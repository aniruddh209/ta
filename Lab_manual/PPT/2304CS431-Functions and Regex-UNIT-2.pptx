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308" r:id="rId2"/>
    <p:sldId id="352" r:id="rId3"/>
    <p:sldId id="369" r:id="rId4"/>
    <p:sldId id="370" r:id="rId5"/>
    <p:sldId id="374" r:id="rId6"/>
    <p:sldId id="376" r:id="rId7"/>
    <p:sldId id="375" r:id="rId8"/>
    <p:sldId id="377" r:id="rId9"/>
    <p:sldId id="416" r:id="rId10"/>
    <p:sldId id="410" r:id="rId11"/>
    <p:sldId id="411" r:id="rId12"/>
    <p:sldId id="453" r:id="rId13"/>
    <p:sldId id="456" r:id="rId14"/>
    <p:sldId id="413" r:id="rId15"/>
    <p:sldId id="455" r:id="rId16"/>
    <p:sldId id="457" r:id="rId17"/>
    <p:sldId id="458" r:id="rId18"/>
    <p:sldId id="459" r:id="rId19"/>
    <p:sldId id="460" r:id="rId20"/>
    <p:sldId id="461" r:id="rId21"/>
    <p:sldId id="462" r:id="rId22"/>
    <p:sldId id="463" r:id="rId23"/>
    <p:sldId id="415" r:id="rId24"/>
    <p:sldId id="358" r:id="rId25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Roboto Condensed Light" panose="02000000000000000000" pitchFamily="2" charset="0"/>
      <p:regular r:id="rId31"/>
      <p:italic r:id="rId32"/>
    </p:embeddedFont>
    <p:embeddedFont>
      <p:font typeface="Wingdings 3" panose="05040102010807070707" pitchFamily="18" charset="2"/>
      <p:regular r:id="rId33"/>
    </p:embeddedFont>
    <p:embeddedFont>
      <p:font typeface="Wingdings 2" panose="05020102010507070707" pitchFamily="18" charset="2"/>
      <p:regular r:id="rId34"/>
    </p:embeddedFont>
    <p:embeddedFont>
      <p:font typeface="Roboto Condensed" panose="02000000000000000000" pitchFamily="2" charset="0"/>
      <p:regular r:id="rId35"/>
      <p:bold r:id="rId36"/>
      <p:italic r:id="rId37"/>
      <p:boldItalic r:id="rId38"/>
    </p:embeddedFont>
    <p:embeddedFont>
      <p:font typeface="Segoe UI Black" panose="020B0A02040204020203" pitchFamily="34" charset="0"/>
      <p:bold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rM6SzERusZ5KM6JfMckUjA==" hashData="Y7f+ED2ZfXW4zqcVBLdhNEtZan7Q3zFgI+VreZW2xa0wvvczTbYRzPZX0vwEftvhjhZW6EINpIt+I8L/Wsmwbg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CCDED6"/>
    <a:srgbClr val="D4DED6"/>
    <a:srgbClr val="ED524F"/>
    <a:srgbClr val="301B92"/>
    <a:srgbClr val="673BB7"/>
    <a:srgbClr val="607D8B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9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15.jpe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9.jpe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Chirag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K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Sakhrani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2304CS431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(CSJS)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02 – Functions and Regular Expressions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Vijay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M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Shekhat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dirty="0">
                <a:solidFill>
                  <a:schemeClr val="tx1"/>
                </a:solidFill>
              </a:rPr>
              <a:t>2104CS304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(WP)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01 – Introduction to JavaScript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27232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0" u="none" dirty="0"/>
              <a:t>Darshan Institute of Computer Applications,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  <p:sp>
        <p:nvSpPr>
          <p:cNvPr id="20" name="Hexagon 1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7D5008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7D5008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346608028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11/26/2025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  <p:sldLayoutId id="2147483692" r:id="rId22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doe@sub.example.org" TargetMode="External"/><Relationship Id="rId2" Type="http://schemas.openxmlformats.org/officeDocument/2006/relationships/hyperlink" Target="mailto:user123@example.com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mailto:user+name@domain.co.uk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chirag.sakhrani@darshan.ac.in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8401191184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Chirag</a:t>
            </a:r>
            <a:r>
              <a:rPr lang="en-IN" dirty="0"/>
              <a:t> K </a:t>
            </a:r>
            <a:r>
              <a:rPr lang="en-IN" dirty="0" err="1"/>
              <a:t>Sakhrani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Client Side Scripting using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IN" dirty="0"/>
              <a:t> (CSJS) (</a:t>
            </a:r>
            <a:r>
              <a:rPr lang="en-US" dirty="0"/>
              <a:t>2304CS431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6" name="Picture Placeholder 15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569" y="5197789"/>
            <a:ext cx="1353599" cy="1353599"/>
          </a:xfr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681" y="1098901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Unit-02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Functions and Regular Expressions</a:t>
            </a:r>
          </a:p>
        </p:txBody>
      </p:sp>
      <p:pic>
        <p:nvPicPr>
          <p:cNvPr id="17" name="Picture 16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63070" y="2272240"/>
            <a:ext cx="3228616" cy="2313520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1BD296-6565-C57B-1782-B81CA879F03C}"/>
              </a:ext>
            </a:extLst>
          </p:cNvPr>
          <p:cNvSpPr txBox="1"/>
          <p:nvPr/>
        </p:nvSpPr>
        <p:spPr>
          <a:xfrm>
            <a:off x="1030367" y="4129793"/>
            <a:ext cx="70353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/>
              <a:t>CO2 : at the end of this chapter, students will be able to,</a:t>
            </a:r>
          </a:p>
          <a:p>
            <a:r>
              <a:rPr lang="en-US" sz="2400" dirty="0"/>
              <a:t>          prepare regular expression for validation in JS</a:t>
            </a:r>
            <a:r>
              <a:rPr lang="en-IN" sz="2400" dirty="0"/>
              <a:t>. </a:t>
            </a:r>
            <a:r>
              <a:rPr lang="en-US" sz="2400" i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700532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12385"/>
            <a:ext cx="5925905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User Defined Functions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Pop up boxes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Inbuilt functions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Validations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400" dirty="0"/>
              <a:t>Validations using Regular Expressions</a:t>
            </a:r>
          </a:p>
          <a:p>
            <a:pPr indent="446088">
              <a:buFont typeface="Wingdings" pitchFamily="2" charset="2"/>
              <a:buChar char="ü"/>
            </a:pP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6108586" y="720132"/>
            <a:ext cx="463703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JavaScript function is a </a:t>
            </a:r>
            <a:r>
              <a:rPr lang="en-US" dirty="0">
                <a:solidFill>
                  <a:srgbClr val="C00000"/>
                </a:solidFill>
              </a:rPr>
              <a:t>block of code </a:t>
            </a:r>
            <a:r>
              <a:rPr lang="en-US" dirty="0"/>
              <a:t>designed to perform a particular task.</a:t>
            </a:r>
          </a:p>
          <a:p>
            <a:r>
              <a:rPr lang="en-US" dirty="0"/>
              <a:t>A JavaScript function is </a:t>
            </a:r>
            <a:r>
              <a:rPr lang="en-US" dirty="0">
                <a:solidFill>
                  <a:srgbClr val="C00000"/>
                </a:solidFill>
              </a:rPr>
              <a:t>executed</a:t>
            </a:r>
            <a:r>
              <a:rPr lang="en-US" dirty="0"/>
              <a:t> when "</a:t>
            </a:r>
            <a:r>
              <a:rPr lang="en-US" dirty="0">
                <a:solidFill>
                  <a:srgbClr val="C00000"/>
                </a:solidFill>
              </a:rPr>
              <a:t>something</a:t>
            </a:r>
            <a:r>
              <a:rPr lang="en-US" dirty="0"/>
              <a:t>" </a:t>
            </a:r>
            <a:r>
              <a:rPr lang="en-US" dirty="0">
                <a:solidFill>
                  <a:srgbClr val="C00000"/>
                </a:solidFill>
              </a:rPr>
              <a:t>invokes</a:t>
            </a:r>
            <a:r>
              <a:rPr lang="en-US" dirty="0"/>
              <a:t> it.</a:t>
            </a:r>
          </a:p>
          <a:p>
            <a:r>
              <a:rPr lang="en-US" dirty="0"/>
              <a:t>A JavaScript function is defined with the </a:t>
            </a:r>
            <a:r>
              <a:rPr lang="en-US" dirty="0">
                <a:solidFill>
                  <a:srgbClr val="C00000"/>
                </a:solidFill>
              </a:rPr>
              <a:t>function</a:t>
            </a:r>
            <a:r>
              <a:rPr lang="en-US" dirty="0"/>
              <a:t> keyword, </a:t>
            </a:r>
            <a:r>
              <a:rPr lang="en-US" dirty="0">
                <a:solidFill>
                  <a:srgbClr val="C00000"/>
                </a:solidFill>
              </a:rPr>
              <a:t>followed by a name, followed by parentheses ().</a:t>
            </a:r>
          </a:p>
          <a:p>
            <a:r>
              <a:rPr lang="en-US" dirty="0"/>
              <a:t> The </a:t>
            </a:r>
            <a:r>
              <a:rPr lang="en-US" dirty="0">
                <a:solidFill>
                  <a:srgbClr val="C00000"/>
                </a:solidFill>
              </a:rPr>
              <a:t>parentheses</a:t>
            </a:r>
            <a:r>
              <a:rPr lang="en-US" dirty="0"/>
              <a:t> may </a:t>
            </a:r>
            <a:r>
              <a:rPr lang="en-US" dirty="0">
                <a:solidFill>
                  <a:srgbClr val="C00000"/>
                </a:solidFill>
              </a:rPr>
              <a:t>include parameter </a:t>
            </a:r>
            <a:r>
              <a:rPr lang="en-US" dirty="0"/>
              <a:t>names </a:t>
            </a:r>
            <a:r>
              <a:rPr lang="en-US" dirty="0">
                <a:solidFill>
                  <a:srgbClr val="C00000"/>
                </a:solidFill>
              </a:rPr>
              <a:t>separated</a:t>
            </a:r>
            <a:r>
              <a:rPr lang="en-US" dirty="0"/>
              <a:t> by </a:t>
            </a:r>
            <a:r>
              <a:rPr lang="en-US" dirty="0">
                <a:solidFill>
                  <a:srgbClr val="C00000"/>
                </a:solidFill>
              </a:rPr>
              <a:t>commas</a:t>
            </a:r>
            <a:r>
              <a:rPr lang="en-US" dirty="0"/>
              <a:t>: (parameter1, parameter2, ...)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code to be executed</a:t>
            </a:r>
            <a:r>
              <a:rPr lang="en-US" dirty="0"/>
              <a:t>, by the function, is placed inside </a:t>
            </a:r>
            <a:r>
              <a:rPr lang="en-US" dirty="0">
                <a:solidFill>
                  <a:srgbClr val="C00000"/>
                </a:solidFill>
              </a:rPr>
              <a:t>curly brackets</a:t>
            </a:r>
            <a:r>
              <a:rPr lang="en-US" dirty="0"/>
              <a:t>.</a:t>
            </a:r>
          </a:p>
          <a:p>
            <a:r>
              <a:rPr lang="en-US" dirty="0"/>
              <a:t>Example 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53674" y="4309140"/>
            <a:ext cx="3810000" cy="1200329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(p1, p2) {</a:t>
            </a:r>
          </a:p>
          <a:p>
            <a:r>
              <a:rPr lang="en-US" dirty="0"/>
              <a:t>	return p1 * p2;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11401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JavaScript </a:t>
            </a:r>
            <a:r>
              <a:rPr lang="en-US" dirty="0">
                <a:solidFill>
                  <a:srgbClr val="C00000"/>
                </a:solidFill>
              </a:rPr>
              <a:t>reaches a return </a:t>
            </a:r>
            <a:r>
              <a:rPr lang="en-US" dirty="0"/>
              <a:t>statement, the function will </a:t>
            </a:r>
            <a:r>
              <a:rPr lang="en-US" dirty="0">
                <a:solidFill>
                  <a:srgbClr val="C00000"/>
                </a:solidFill>
              </a:rPr>
              <a:t>stop executing</a:t>
            </a:r>
            <a:r>
              <a:rPr lang="en-US" dirty="0"/>
              <a:t>.</a:t>
            </a:r>
          </a:p>
          <a:p>
            <a:r>
              <a:rPr lang="en-US" dirty="0"/>
              <a:t>If the function was invoked from a statement, JavaScript will "return" to execute the code after the invoking statement.</a:t>
            </a:r>
          </a:p>
          <a:p>
            <a:r>
              <a:rPr lang="en-US" dirty="0"/>
              <a:t>The code inside the function will execute when "something" invokes (calls) the function:</a:t>
            </a:r>
          </a:p>
          <a:p>
            <a:pPr lvl="1"/>
            <a:r>
              <a:rPr lang="en-US" sz="2200" dirty="0"/>
              <a:t>When an </a:t>
            </a:r>
            <a:r>
              <a:rPr lang="en-US" sz="2200" dirty="0">
                <a:solidFill>
                  <a:srgbClr val="C00000"/>
                </a:solidFill>
              </a:rPr>
              <a:t>event occurs </a:t>
            </a:r>
            <a:r>
              <a:rPr lang="en-US" sz="2200" dirty="0"/>
              <a:t>(when a user clicks a button)</a:t>
            </a:r>
          </a:p>
          <a:p>
            <a:pPr lvl="1"/>
            <a:r>
              <a:rPr lang="en-US" sz="2200" dirty="0"/>
              <a:t>When it is invoked (</a:t>
            </a:r>
            <a:r>
              <a:rPr lang="en-US" sz="2200" dirty="0">
                <a:solidFill>
                  <a:srgbClr val="C00000"/>
                </a:solidFill>
              </a:rPr>
              <a:t>called</a:t>
            </a:r>
            <a:r>
              <a:rPr lang="en-US" sz="2200" dirty="0"/>
              <a:t>) from JavaScript code</a:t>
            </a:r>
          </a:p>
          <a:p>
            <a:pPr lvl="1"/>
            <a:r>
              <a:rPr lang="en-US" sz="2200" dirty="0">
                <a:solidFill>
                  <a:srgbClr val="C00000"/>
                </a:solidFill>
              </a:rPr>
              <a:t>Automatically</a:t>
            </a:r>
            <a:r>
              <a:rPr lang="en-US" sz="2200" dirty="0"/>
              <a:t> (self invoked)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1730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 up Boxes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Popup boxes can be used to raise an alert, or to get confirmation on any input or to have a kind of input from the users.</a:t>
            </a:r>
          </a:p>
          <a:p>
            <a:r>
              <a:rPr lang="en-US" dirty="0"/>
              <a:t>JavaScript supports </a:t>
            </a:r>
            <a:r>
              <a:rPr lang="en-US" dirty="0">
                <a:solidFill>
                  <a:srgbClr val="C00000"/>
                </a:solidFill>
              </a:rPr>
              <a:t>three</a:t>
            </a:r>
            <a:r>
              <a:rPr lang="en-US" dirty="0"/>
              <a:t> types of popup boxes. </a:t>
            </a:r>
          </a:p>
          <a:p>
            <a:pPr lvl="1"/>
            <a:r>
              <a:rPr lang="en-US" sz="2200" dirty="0"/>
              <a:t>Alert box</a:t>
            </a:r>
          </a:p>
          <a:p>
            <a:pPr lvl="1"/>
            <a:r>
              <a:rPr lang="en-US" sz="2200" dirty="0"/>
              <a:t>Confirm box</a:t>
            </a:r>
          </a:p>
          <a:p>
            <a:pPr lvl="1"/>
            <a:r>
              <a:rPr lang="en-US" sz="2200" dirty="0"/>
              <a:t>Prompt box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0101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Confirm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B84742"/>
              </a:buClr>
            </a:pPr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confirm box </a:t>
            </a:r>
            <a:r>
              <a:rPr lang="en-US" dirty="0"/>
              <a:t>is used if you want the user to </a:t>
            </a:r>
            <a:r>
              <a:rPr lang="en-US" dirty="0">
                <a:solidFill>
                  <a:srgbClr val="C00000"/>
                </a:solidFill>
              </a:rPr>
              <a:t>accept something</a:t>
            </a:r>
            <a:r>
              <a:rPr lang="en-US" dirty="0"/>
              <a:t>.</a:t>
            </a:r>
          </a:p>
          <a:p>
            <a:pPr>
              <a:buClr>
                <a:srgbClr val="B84742"/>
              </a:buClr>
            </a:pPr>
            <a:r>
              <a:rPr lang="en-US" dirty="0">
                <a:solidFill>
                  <a:srgbClr val="C00000"/>
                </a:solidFill>
              </a:rPr>
              <a:t>When </a:t>
            </a:r>
            <a:r>
              <a:rPr lang="en-US" dirty="0"/>
              <a:t>a confirm box </a:t>
            </a:r>
            <a:r>
              <a:rPr lang="en-US" dirty="0">
                <a:solidFill>
                  <a:srgbClr val="C00000"/>
                </a:solidFill>
              </a:rPr>
              <a:t>pops up</a:t>
            </a:r>
            <a:r>
              <a:rPr lang="en-US" dirty="0"/>
              <a:t>, the user will have to </a:t>
            </a:r>
            <a:r>
              <a:rPr lang="en-US" dirty="0">
                <a:solidFill>
                  <a:srgbClr val="C00000"/>
                </a:solidFill>
              </a:rPr>
              <a:t>click</a:t>
            </a:r>
            <a:r>
              <a:rPr lang="en-US" dirty="0"/>
              <a:t> either "</a:t>
            </a:r>
            <a:r>
              <a:rPr lang="en-US" dirty="0">
                <a:solidFill>
                  <a:srgbClr val="C00000"/>
                </a:solidFill>
              </a:rPr>
              <a:t>OK</a:t>
            </a:r>
            <a:r>
              <a:rPr lang="en-US" dirty="0"/>
              <a:t>" or "</a:t>
            </a:r>
            <a:r>
              <a:rPr lang="en-US" dirty="0">
                <a:solidFill>
                  <a:srgbClr val="C00000"/>
                </a:solidFill>
              </a:rPr>
              <a:t>Cancel</a:t>
            </a:r>
            <a:r>
              <a:rPr lang="en-US" dirty="0"/>
              <a:t>" to proceed, If the user clicks "</a:t>
            </a:r>
            <a:r>
              <a:rPr lang="en-US" dirty="0">
                <a:solidFill>
                  <a:srgbClr val="C00000"/>
                </a:solidFill>
              </a:rPr>
              <a:t>OK</a:t>
            </a:r>
            <a:r>
              <a:rPr lang="en-US" dirty="0"/>
              <a:t>", the box </a:t>
            </a:r>
            <a:r>
              <a:rPr lang="en-US" dirty="0">
                <a:solidFill>
                  <a:srgbClr val="C00000"/>
                </a:solidFill>
              </a:rPr>
              <a:t>returns true</a:t>
            </a:r>
            <a:r>
              <a:rPr lang="en-US" dirty="0"/>
              <a:t>. If the user clicks "</a:t>
            </a:r>
            <a:r>
              <a:rPr lang="en-US" dirty="0">
                <a:solidFill>
                  <a:srgbClr val="C00000"/>
                </a:solidFill>
              </a:rPr>
              <a:t>Cancel</a:t>
            </a:r>
            <a:r>
              <a:rPr lang="en-US" dirty="0"/>
              <a:t>", the box </a:t>
            </a:r>
            <a:r>
              <a:rPr lang="en-US" dirty="0">
                <a:solidFill>
                  <a:srgbClr val="C00000"/>
                </a:solidFill>
              </a:rPr>
              <a:t>returns false</a:t>
            </a:r>
            <a:r>
              <a:rPr lang="en-US" dirty="0"/>
              <a:t>.</a:t>
            </a:r>
          </a:p>
          <a:p>
            <a:pPr>
              <a:buClr>
                <a:srgbClr val="B84742"/>
              </a:buClr>
            </a:pPr>
            <a:r>
              <a:rPr lang="en-US" dirty="0"/>
              <a:t>Example :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20930" y="2622692"/>
            <a:ext cx="3810000" cy="2862322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b="1" dirty="0"/>
              <a:t>confirm</a:t>
            </a:r>
            <a:r>
              <a:rPr lang="en-US" dirty="0"/>
              <a:t>(“Are you sure??");</a:t>
            </a:r>
          </a:p>
          <a:p>
            <a:r>
              <a:rPr lang="en-US" dirty="0"/>
              <a:t>   if(a==true) {</a:t>
            </a:r>
          </a:p>
          <a:p>
            <a:r>
              <a:rPr lang="en-US" dirty="0"/>
              <a:t>    	alert(“User Accepted”);</a:t>
            </a:r>
          </a:p>
          <a:p>
            <a:r>
              <a:rPr lang="en-US" dirty="0"/>
              <a:t>   }   </a:t>
            </a:r>
          </a:p>
          <a:p>
            <a:r>
              <a:rPr lang="en-US" dirty="0"/>
              <a:t>   else   {</a:t>
            </a:r>
          </a:p>
          <a:p>
            <a:r>
              <a:rPr lang="en-US" dirty="0"/>
              <a:t>   	alert(“User </a:t>
            </a:r>
            <a:r>
              <a:rPr lang="en-US" dirty="0" err="1"/>
              <a:t>Cancled</a:t>
            </a:r>
            <a:r>
              <a:rPr lang="en-US" dirty="0"/>
              <a:t>”);</a:t>
            </a:r>
          </a:p>
          <a:p>
            <a:r>
              <a:rPr lang="en-US" dirty="0"/>
              <a:t>   }</a:t>
            </a:r>
          </a:p>
          <a:p>
            <a:r>
              <a:rPr lang="en-US" dirty="0"/>
              <a:t>&lt;/script&gt;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11930" y="3046614"/>
            <a:ext cx="4371975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090192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Alert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</a:t>
            </a:r>
            <a:r>
              <a:rPr lang="en-US" dirty="0">
                <a:solidFill>
                  <a:srgbClr val="C00000"/>
                </a:solidFill>
              </a:rPr>
              <a:t>alert box </a:t>
            </a:r>
            <a:r>
              <a:rPr lang="en-US" dirty="0"/>
              <a:t>is used if you want to </a:t>
            </a:r>
            <a:r>
              <a:rPr lang="en-US" dirty="0">
                <a:solidFill>
                  <a:srgbClr val="C00000"/>
                </a:solidFill>
              </a:rPr>
              <a:t>make sure </a:t>
            </a:r>
            <a:r>
              <a:rPr lang="en-US" dirty="0"/>
              <a:t>information </a:t>
            </a:r>
            <a:r>
              <a:rPr lang="en-US" dirty="0">
                <a:solidFill>
                  <a:srgbClr val="C00000"/>
                </a:solidFill>
              </a:rPr>
              <a:t>comes through</a:t>
            </a:r>
            <a:r>
              <a:rPr lang="en-US" dirty="0"/>
              <a:t> to the </a:t>
            </a:r>
            <a:r>
              <a:rPr lang="en-US" dirty="0">
                <a:solidFill>
                  <a:srgbClr val="C00000"/>
                </a:solidFill>
              </a:rPr>
              <a:t>user</a:t>
            </a:r>
            <a:r>
              <a:rPr lang="en-US" dirty="0"/>
              <a:t>.</a:t>
            </a:r>
          </a:p>
          <a:p>
            <a:r>
              <a:rPr lang="en-US" dirty="0"/>
              <a:t>When an alert box pops up, the user will </a:t>
            </a:r>
            <a:r>
              <a:rPr lang="en-US" dirty="0">
                <a:solidFill>
                  <a:srgbClr val="C00000"/>
                </a:solidFill>
              </a:rPr>
              <a:t>have to click "OK" </a:t>
            </a:r>
            <a:r>
              <a:rPr lang="en-US" dirty="0"/>
              <a:t>to proceed.</a:t>
            </a:r>
          </a:p>
          <a:p>
            <a:r>
              <a:rPr lang="en-US" dirty="0"/>
              <a:t>It can be used to display the result of validation.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0807" y="2448217"/>
            <a:ext cx="3810000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&lt;html&gt;</a:t>
            </a:r>
            <a:endParaRPr lang="en-US" b="1" dirty="0"/>
          </a:p>
          <a:p>
            <a:r>
              <a:rPr lang="en-US" dirty="0"/>
              <a:t>     &lt;head&gt;</a:t>
            </a:r>
          </a:p>
          <a:p>
            <a:r>
              <a:rPr lang="en-US" dirty="0"/>
              <a:t>    	&lt;title&gt;Alert Box&lt;/title&gt;</a:t>
            </a:r>
          </a:p>
          <a:p>
            <a:r>
              <a:rPr lang="en-US" dirty="0"/>
              <a:t>    &lt;/head&gt;</a:t>
            </a:r>
          </a:p>
          <a:p>
            <a:r>
              <a:rPr lang="en-US" dirty="0"/>
              <a:t>    &lt;body&gt;</a:t>
            </a:r>
          </a:p>
          <a:p>
            <a:r>
              <a:rPr lang="en-US" dirty="0"/>
              <a:t>    	&lt;script&gt;</a:t>
            </a:r>
          </a:p>
          <a:p>
            <a:r>
              <a:rPr lang="en-US" dirty="0"/>
              <a:t>                            alert("Hello World");</a:t>
            </a:r>
          </a:p>
          <a:p>
            <a:r>
              <a:rPr lang="en-US" dirty="0"/>
              <a:t>	&lt;/script&gt;</a:t>
            </a:r>
          </a:p>
          <a:p>
            <a:r>
              <a:rPr lang="en-US" dirty="0"/>
              <a:t>    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5607" y="2691938"/>
            <a:ext cx="4362450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5558339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Box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00000"/>
                </a:solidFill>
              </a:rPr>
              <a:t>prompt box </a:t>
            </a:r>
            <a:r>
              <a:rPr lang="en-US" dirty="0"/>
              <a:t>is used if you want the user to </a:t>
            </a:r>
            <a:r>
              <a:rPr lang="en-US" dirty="0">
                <a:solidFill>
                  <a:srgbClr val="C00000"/>
                </a:solidFill>
              </a:rPr>
              <a:t>input a value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rgbClr val="C00000"/>
                </a:solidFill>
              </a:rPr>
              <a:t>When</a:t>
            </a:r>
            <a:r>
              <a:rPr lang="en-US" dirty="0"/>
              <a:t> a prompt box </a:t>
            </a:r>
            <a:r>
              <a:rPr lang="en-US" dirty="0">
                <a:solidFill>
                  <a:srgbClr val="C00000"/>
                </a:solidFill>
              </a:rPr>
              <a:t>pops up</a:t>
            </a:r>
            <a:r>
              <a:rPr lang="en-US" dirty="0"/>
              <a:t>, user have to click either "</a:t>
            </a:r>
            <a:r>
              <a:rPr lang="en-US" dirty="0">
                <a:solidFill>
                  <a:srgbClr val="C00000"/>
                </a:solidFill>
              </a:rPr>
              <a:t>OK</a:t>
            </a:r>
            <a:r>
              <a:rPr lang="en-US" dirty="0"/>
              <a:t>" or "</a:t>
            </a:r>
            <a:r>
              <a:rPr lang="en-US" dirty="0">
                <a:solidFill>
                  <a:srgbClr val="C00000"/>
                </a:solidFill>
              </a:rPr>
              <a:t>Cancel</a:t>
            </a:r>
            <a:r>
              <a:rPr lang="en-US" dirty="0"/>
              <a:t>" to proceed, If the user clicks "</a:t>
            </a:r>
            <a:r>
              <a:rPr lang="en-US" dirty="0">
                <a:solidFill>
                  <a:srgbClr val="C00000"/>
                </a:solidFill>
              </a:rPr>
              <a:t>OK</a:t>
            </a:r>
            <a:r>
              <a:rPr lang="en-US" dirty="0"/>
              <a:t>" the box </a:t>
            </a:r>
            <a:r>
              <a:rPr lang="en-US" dirty="0">
                <a:solidFill>
                  <a:srgbClr val="C00000"/>
                </a:solidFill>
              </a:rPr>
              <a:t>returns the input value</a:t>
            </a:r>
            <a:r>
              <a:rPr lang="en-US" dirty="0"/>
              <a:t>, If the user clicks "</a:t>
            </a:r>
            <a:r>
              <a:rPr lang="en-US" dirty="0">
                <a:solidFill>
                  <a:srgbClr val="C00000"/>
                </a:solidFill>
              </a:rPr>
              <a:t>Cancel</a:t>
            </a:r>
            <a:r>
              <a:rPr lang="en-US" dirty="0"/>
              <a:t>" the box </a:t>
            </a:r>
            <a:r>
              <a:rPr lang="en-US" dirty="0">
                <a:solidFill>
                  <a:srgbClr val="C00000"/>
                </a:solidFill>
              </a:rPr>
              <a:t>returns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null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65518" y="2604827"/>
            <a:ext cx="430530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12618" y="2614352"/>
            <a:ext cx="3810000" cy="1477328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Code</a:t>
            </a:r>
            <a:endParaRPr lang="en-US" dirty="0"/>
          </a:p>
          <a:p>
            <a:r>
              <a:rPr lang="en-US" dirty="0"/>
              <a:t>&lt;script&gt;</a:t>
            </a:r>
          </a:p>
          <a:p>
            <a:r>
              <a:rPr lang="en-US" dirty="0"/>
              <a:t>   </a:t>
            </a:r>
            <a:r>
              <a:rPr lang="en-US" dirty="0" err="1"/>
              <a:t>var</a:t>
            </a:r>
            <a:r>
              <a:rPr lang="en-US" dirty="0"/>
              <a:t> a = </a:t>
            </a:r>
            <a:r>
              <a:rPr lang="en-US" b="1" dirty="0"/>
              <a:t>prompt</a:t>
            </a:r>
            <a:r>
              <a:rPr lang="en-US" dirty="0"/>
              <a:t>(“Enter Name");</a:t>
            </a:r>
          </a:p>
          <a:p>
            <a:r>
              <a:rPr lang="en-US" dirty="0"/>
              <a:t>   alert(“User Entered ” + a);</a:t>
            </a:r>
          </a:p>
          <a:p>
            <a:r>
              <a:rPr lang="en-US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49822930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Inbuilt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built-in function is a function that is already available in a programming language, application, or another tool that can be accessed by end users.</a:t>
            </a:r>
          </a:p>
          <a:p>
            <a:r>
              <a:rPr lang="en-US" dirty="0"/>
              <a:t>JavaScript provides large number of inbuilt functions some of them are:</a:t>
            </a:r>
          </a:p>
          <a:p>
            <a:pPr lvl="1"/>
            <a:r>
              <a:rPr lang="en-IN" sz="2200" dirty="0" err="1"/>
              <a:t>eval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/>
              <a:t>isFinite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/>
              <a:t>isNaN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/>
              <a:t>Number()</a:t>
            </a:r>
          </a:p>
          <a:p>
            <a:pPr lvl="1"/>
            <a:r>
              <a:rPr lang="en-IN" sz="2200" dirty="0" err="1"/>
              <a:t>parseInt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 err="1"/>
              <a:t>parseFloat</a:t>
            </a:r>
            <a:r>
              <a:rPr lang="en-IN" sz="2200" dirty="0"/>
              <a:t>()</a:t>
            </a:r>
          </a:p>
          <a:p>
            <a:pPr lvl="1"/>
            <a:r>
              <a:rPr lang="en-IN" sz="2200" dirty="0"/>
              <a:t>String()</a:t>
            </a:r>
          </a:p>
          <a:p>
            <a:pPr lvl="1"/>
            <a:r>
              <a:rPr lang="en-IN" sz="2200" dirty="0"/>
              <a:t>Console.log(), etc.</a:t>
            </a:r>
          </a:p>
        </p:txBody>
      </p:sp>
    </p:spTree>
    <p:extLst>
      <p:ext uri="{BB962C8B-B14F-4D97-AF65-F5344CB8AC3E}">
        <p14:creationId xmlns:p14="http://schemas.microsoft.com/office/powerpoint/2010/main" val="6714611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Validation is the process of </a:t>
            </a:r>
            <a:r>
              <a:rPr lang="en-US" dirty="0">
                <a:solidFill>
                  <a:srgbClr val="C00000"/>
                </a:solidFill>
              </a:rPr>
              <a:t>checking </a:t>
            </a:r>
            <a:r>
              <a:rPr lang="en-US" dirty="0"/>
              <a:t>data against a </a:t>
            </a:r>
            <a:r>
              <a:rPr lang="en-US" dirty="0">
                <a:solidFill>
                  <a:srgbClr val="C00000"/>
                </a:solidFill>
              </a:rPr>
              <a:t>standard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requirement</a:t>
            </a:r>
            <a:r>
              <a:rPr lang="en-US" dirty="0"/>
              <a:t>.</a:t>
            </a:r>
          </a:p>
          <a:p>
            <a:r>
              <a:rPr lang="en-US" dirty="0"/>
              <a:t>Form validation normally used to occur at the server, after client entered necessary data and then pressed the Submit button.</a:t>
            </a:r>
          </a:p>
          <a:p>
            <a:r>
              <a:rPr lang="en-US" dirty="0"/>
              <a:t>If the data entered by a client was incorrect or was simply missing, the server would have to send all the data back to the client and request that the form be resubmitted with correct information.</a:t>
            </a:r>
          </a:p>
          <a:p>
            <a:r>
              <a:rPr lang="en-US" dirty="0"/>
              <a:t>This was really a lengthy process which used to put a lot of burden on the server.</a:t>
            </a:r>
          </a:p>
          <a:p>
            <a:r>
              <a:rPr lang="en-US" dirty="0"/>
              <a:t>JavaScript provides a way to validate form's data on the client's computer before sending it to the web server.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8044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Form validation generally performs two functions.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/>
              <a:t>Basic Validation</a:t>
            </a:r>
          </a:p>
          <a:p>
            <a:pPr lvl="2"/>
            <a:r>
              <a:rPr lang="en-US" sz="2200" dirty="0"/>
              <a:t>Emptiness</a:t>
            </a:r>
          </a:p>
          <a:p>
            <a:pPr lvl="2"/>
            <a:r>
              <a:rPr lang="en-US" sz="2200" dirty="0"/>
              <a:t>Confirm Password</a:t>
            </a:r>
          </a:p>
          <a:p>
            <a:pPr lvl="2"/>
            <a:r>
              <a:rPr lang="en-US" sz="2200" dirty="0"/>
              <a:t>Length Validation </a:t>
            </a:r>
            <a:r>
              <a:rPr lang="en-US" sz="2200" dirty="0" err="1"/>
              <a:t>etc</a:t>
            </a:r>
            <a:r>
              <a:rPr lang="en-US" sz="2200" dirty="0"/>
              <a:t>…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b="1" dirty="0"/>
              <a:t>Data Format Validation</a:t>
            </a:r>
          </a:p>
          <a:p>
            <a:pPr marL="1314450" lvl="2" indent="-457200">
              <a:buNone/>
            </a:pPr>
            <a:r>
              <a:rPr lang="en-US" sz="2400" dirty="0"/>
              <a:t> </a:t>
            </a:r>
            <a:r>
              <a:rPr lang="en-US" sz="2200" dirty="0"/>
              <a:t>The data that is entered must be checked for correct </a:t>
            </a:r>
            <a:r>
              <a:rPr lang="en-US" sz="2200" b="1" dirty="0"/>
              <a:t>form</a:t>
            </a:r>
            <a:r>
              <a:rPr lang="en-US" sz="2200" dirty="0"/>
              <a:t> and </a:t>
            </a:r>
            <a:r>
              <a:rPr lang="en-US" sz="2200" b="1" dirty="0"/>
              <a:t>value</a:t>
            </a:r>
            <a:r>
              <a:rPr lang="en-US" sz="2200" dirty="0"/>
              <a:t>.</a:t>
            </a:r>
          </a:p>
          <a:p>
            <a:pPr marL="1314450" lvl="2" indent="-457200"/>
            <a:r>
              <a:rPr lang="en-US" sz="2200" dirty="0"/>
              <a:t>Email Validation</a:t>
            </a:r>
          </a:p>
          <a:p>
            <a:pPr marL="1314450" lvl="2" indent="-457200"/>
            <a:r>
              <a:rPr lang="en-US" sz="2200" dirty="0"/>
              <a:t>Mobile Number Validation</a:t>
            </a:r>
          </a:p>
          <a:p>
            <a:pPr marL="1314450" lvl="2" indent="-457200"/>
            <a:r>
              <a:rPr lang="en-US" sz="2200" dirty="0"/>
              <a:t>Enrolment Number Validation </a:t>
            </a:r>
            <a:r>
              <a:rPr lang="en-US" sz="2200" dirty="0" err="1"/>
              <a:t>etc</a:t>
            </a:r>
            <a:r>
              <a:rPr lang="en-US" sz="2200" dirty="0"/>
              <a:t>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63215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41CA-5AEC-5B0A-90C2-CF29E01E3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AE944-E8F2-4235-30FE-FF309D37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using </a:t>
            </a:r>
            <a:r>
              <a:rPr lang="en-US" dirty="0" err="1"/>
              <a:t>RegExp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F6093-08BD-AC3C-64BE-96AD549DA4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regular expression is an object that describes a pattern of characters.</a:t>
            </a:r>
          </a:p>
          <a:p>
            <a:r>
              <a:rPr lang="en-US" dirty="0"/>
              <a:t>Regular expressions are used to perform pattern-matching and "search-and-replace" functions on text.</a:t>
            </a:r>
          </a:p>
          <a:p>
            <a:r>
              <a:rPr lang="en-US" dirty="0"/>
              <a:t>example:</a:t>
            </a:r>
          </a:p>
          <a:p>
            <a:pPr lvl="1">
              <a:buNone/>
            </a:pPr>
            <a:endParaRPr lang="sv-SE" dirty="0"/>
          </a:p>
          <a:p>
            <a:pPr lvl="1">
              <a:buNone/>
            </a:pPr>
            <a:r>
              <a:rPr lang="sv-SE" dirty="0"/>
              <a:t>var pattern = "^[\\w]+$";   // will allow only words in the string</a:t>
            </a:r>
          </a:p>
          <a:p>
            <a:pPr lvl="1">
              <a:buNone/>
            </a:pPr>
            <a:r>
              <a:rPr lang="sv-SE" dirty="0"/>
              <a:t>var regex = new RegExp(pattern);</a:t>
            </a:r>
          </a:p>
          <a:p>
            <a:pPr lvl="1">
              <a:buNone/>
            </a:pPr>
            <a:r>
              <a:rPr lang="sv-SE" dirty="0"/>
              <a:t>If(regex.test(testString)){</a:t>
            </a:r>
          </a:p>
          <a:p>
            <a:pPr lvl="1">
              <a:buNone/>
            </a:pPr>
            <a:r>
              <a:rPr lang="sv-SE" dirty="0"/>
              <a:t>	//Valid</a:t>
            </a:r>
          </a:p>
          <a:p>
            <a:pPr lvl="1">
              <a:buNone/>
            </a:pPr>
            <a:r>
              <a:rPr lang="sv-SE" dirty="0"/>
              <a:t>} else {</a:t>
            </a:r>
          </a:p>
          <a:p>
            <a:pPr lvl="1">
              <a:buNone/>
            </a:pPr>
            <a:r>
              <a:rPr lang="sv-SE" dirty="0"/>
              <a:t>	//Invalid</a:t>
            </a:r>
          </a:p>
          <a:p>
            <a:pPr lvl="1">
              <a:buNone/>
            </a:pPr>
            <a:r>
              <a:rPr lang="sv-SE" dirty="0"/>
              <a:t>}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AE79F4-ECFB-948F-19EA-C4A6C734FAA7}"/>
              </a:ext>
            </a:extLst>
          </p:cNvPr>
          <p:cNvSpPr/>
          <p:nvPr/>
        </p:nvSpPr>
        <p:spPr>
          <a:xfrm>
            <a:off x="485193" y="2724539"/>
            <a:ext cx="6503436" cy="2584577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0891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C96A3-A71D-B295-3C12-657C91F9F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7684D-1A92-CE48-2EBC-5AD2C02FB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using </a:t>
            </a:r>
            <a:r>
              <a:rPr lang="en-US" dirty="0" err="1"/>
              <a:t>RegExp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93F12-6A21-33FC-1088-A32B67063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Regular Expression Modifiers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IN" b="1" dirty="0"/>
              <a:t>Regular Expression Brackets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6405B86-E5F4-8AA9-2AB3-5AAB89138F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9644650"/>
              </p:ext>
            </p:extLst>
          </p:nvPr>
        </p:nvGraphicFramePr>
        <p:xfrm>
          <a:off x="512656" y="1373756"/>
          <a:ext cx="8211464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7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Expressions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the character globally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3DAE21F-9944-4BA6-AE92-9C6E31921C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1762581"/>
              </p:ext>
            </p:extLst>
          </p:nvPr>
        </p:nvGraphicFramePr>
        <p:xfrm>
          <a:off x="512657" y="2156905"/>
          <a:ext cx="8211463" cy="40335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3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endParaRPr lang="en-US" sz="20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 character with case-insensitive matching</a:t>
                      </a:r>
                      <a:endParaRPr lang="en-IN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44CEBDC-C285-CD9D-524B-AF72FEA0EA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3147673"/>
              </p:ext>
            </p:extLst>
          </p:nvPr>
        </p:nvGraphicFramePr>
        <p:xfrm>
          <a:off x="512657" y="2550929"/>
          <a:ext cx="821146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m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multiline matching</a:t>
                      </a:r>
                      <a:endParaRPr lang="en-IN" sz="2000" dirty="0"/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BC54ED34-0BA5-9969-E8C6-C17DBCAC497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04652580"/>
              </p:ext>
            </p:extLst>
          </p:nvPr>
        </p:nvGraphicFramePr>
        <p:xfrm>
          <a:off x="512659" y="3659756"/>
          <a:ext cx="8211464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7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Expressions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[</a:t>
                      </a:r>
                      <a:r>
                        <a:rPr lang="en-US" sz="2000" dirty="0" err="1"/>
                        <a:t>abc</a:t>
                      </a:r>
                      <a:r>
                        <a:rPr lang="en-US" sz="2000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any of the characters inside the brackets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C0DA2021-9225-9D88-62AC-7CDF4E0F85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3100523"/>
              </p:ext>
            </p:extLst>
          </p:nvPr>
        </p:nvGraphicFramePr>
        <p:xfrm>
          <a:off x="512660" y="4442905"/>
          <a:ext cx="8211463" cy="40335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3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[^</a:t>
                      </a:r>
                      <a:r>
                        <a:rPr lang="en-US" sz="2000" b="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abc</a:t>
                      </a:r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any character, not inside the brackets</a:t>
                      </a:r>
                      <a:endParaRPr lang="en-IN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A573E5C9-723B-726A-10BF-4763EEC49A8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0333136"/>
              </p:ext>
            </p:extLst>
          </p:nvPr>
        </p:nvGraphicFramePr>
        <p:xfrm>
          <a:off x="512660" y="4836929"/>
          <a:ext cx="821146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[0-9]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any of the digits between the brackets 0 to 9</a:t>
                      </a:r>
                      <a:endParaRPr lang="en-IN" sz="2000" dirty="0"/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9CAE966D-FC2A-A695-F507-E1B78AC933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03172796"/>
              </p:ext>
            </p:extLst>
          </p:nvPr>
        </p:nvGraphicFramePr>
        <p:xfrm>
          <a:off x="512660" y="5230953"/>
          <a:ext cx="821146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[^0-9]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any digit not in between the brackets</a:t>
                      </a:r>
                      <a:endParaRPr lang="en-IN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0E1E7C80-2FA9-995C-9EEE-549A4F5C60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8800024"/>
              </p:ext>
            </p:extLst>
          </p:nvPr>
        </p:nvGraphicFramePr>
        <p:xfrm>
          <a:off x="515770" y="5623810"/>
          <a:ext cx="820835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(x | y)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any of the alternatives between x or y separated with |</a:t>
                      </a:r>
                      <a:endParaRPr lang="en-IN" sz="2000" dirty="0"/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48702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RegExp</a:t>
            </a:r>
            <a:r>
              <a:rPr lang="en-US" dirty="0"/>
              <a:t> (Metacharacters)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find </a:t>
            </a:r>
            <a:r>
              <a:rPr lang="en-US" dirty="0">
                <a:solidFill>
                  <a:srgbClr val="C00000"/>
                </a:solidFill>
              </a:rPr>
              <a:t>word</a:t>
            </a:r>
            <a:r>
              <a:rPr lang="en-US" b="1" dirty="0"/>
              <a:t> </a:t>
            </a:r>
            <a:r>
              <a:rPr lang="en-US" dirty="0"/>
              <a:t>characters in the string we can use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\w</a:t>
            </a:r>
          </a:p>
          <a:p>
            <a:pPr lvl="1"/>
            <a:r>
              <a:rPr lang="en-US" sz="2200" dirty="0"/>
              <a:t>We can also use [a-zA-Z0-9</a:t>
            </a:r>
            <a:r>
              <a:rPr lang="en-US" sz="2200" dirty="0">
                <a:latin typeface="Consolas" panose="020B0609020204030204" pitchFamily="49" charset="0"/>
              </a:rPr>
              <a:t>_</a:t>
            </a:r>
            <a:r>
              <a:rPr lang="en-US" sz="2200" dirty="0"/>
              <a:t>] for the same</a:t>
            </a:r>
          </a:p>
          <a:p>
            <a:r>
              <a:rPr lang="en-US" dirty="0"/>
              <a:t>To find </a:t>
            </a:r>
            <a:r>
              <a:rPr lang="en-US" dirty="0">
                <a:solidFill>
                  <a:srgbClr val="C00000"/>
                </a:solidFill>
              </a:rPr>
              <a:t>non-word</a:t>
            </a:r>
            <a:r>
              <a:rPr lang="en-US" dirty="0"/>
              <a:t> characters in the string we can use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\W</a:t>
            </a:r>
          </a:p>
          <a:p>
            <a:r>
              <a:rPr lang="en-US" dirty="0"/>
              <a:t>to find </a:t>
            </a:r>
            <a:r>
              <a:rPr lang="en-US" dirty="0">
                <a:solidFill>
                  <a:srgbClr val="C00000"/>
                </a:solidFill>
              </a:rPr>
              <a:t>digit </a:t>
            </a:r>
            <a:r>
              <a:rPr lang="en-US" dirty="0"/>
              <a:t>characters in the string we can use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\d</a:t>
            </a:r>
          </a:p>
          <a:p>
            <a:pPr lvl="1"/>
            <a:r>
              <a:rPr lang="en-US" sz="2200" dirty="0"/>
              <a:t>We can also use [0-9] for the same</a:t>
            </a:r>
          </a:p>
          <a:p>
            <a:r>
              <a:rPr lang="en-US" dirty="0"/>
              <a:t>To find </a:t>
            </a:r>
            <a:r>
              <a:rPr lang="en-US" dirty="0">
                <a:solidFill>
                  <a:srgbClr val="C00000"/>
                </a:solidFill>
              </a:rPr>
              <a:t>non-digit</a:t>
            </a:r>
            <a:r>
              <a:rPr lang="en-US" dirty="0"/>
              <a:t> characters in the string we can use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\D</a:t>
            </a:r>
          </a:p>
          <a:p>
            <a:r>
              <a:rPr lang="en-US" dirty="0"/>
              <a:t>We can use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\n </a:t>
            </a:r>
            <a:r>
              <a:rPr lang="en-US" dirty="0"/>
              <a:t>for </a:t>
            </a:r>
            <a:r>
              <a:rPr lang="en-US" dirty="0">
                <a:solidFill>
                  <a:srgbClr val="C00000"/>
                </a:solidFill>
              </a:rPr>
              <a:t>new line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\t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dirty="0"/>
              <a:t>for tab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62204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BACDC-62CB-A54C-185A-5866043F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27432-4FFC-3BF8-C951-A9EB83A18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RegExp</a:t>
            </a:r>
            <a:r>
              <a:rPr lang="en-US" dirty="0"/>
              <a:t> (</a:t>
            </a:r>
            <a:r>
              <a:rPr lang="en-IN" b="1" dirty="0"/>
              <a:t>Metacharacters</a:t>
            </a:r>
            <a:r>
              <a:rPr lang="en-US" dirty="0"/>
              <a:t>)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8B45D07-9EED-AB26-E5F1-7D0A8AC304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36790443"/>
              </p:ext>
            </p:extLst>
          </p:nvPr>
        </p:nvGraphicFramePr>
        <p:xfrm>
          <a:off x="2089532" y="1429738"/>
          <a:ext cx="8211464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7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Expressions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\.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/>
                        <a:t>Search single characters, except line terminator or newline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A03A093-4E4A-DF9F-3CA5-1AF7CD5FD3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6999521"/>
              </p:ext>
            </p:extLst>
          </p:nvPr>
        </p:nvGraphicFramePr>
        <p:xfrm>
          <a:off x="2089533" y="2212887"/>
          <a:ext cx="8211463" cy="40335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3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\w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the word character i.e. characters from a to z, A to Z, 0 to 9</a:t>
                      </a:r>
                      <a:endParaRPr lang="en-IN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60CC427-AC25-4F47-4705-87BCD634A3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2710194"/>
              </p:ext>
            </p:extLst>
          </p:nvPr>
        </p:nvGraphicFramePr>
        <p:xfrm>
          <a:off x="2089533" y="2606911"/>
          <a:ext cx="821146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\d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 digit</a:t>
                      </a:r>
                      <a:endParaRPr lang="en-IN" sz="2000" dirty="0"/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8FDAFD36-9DA2-489F-FAFF-C4B67CC4A2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25447269"/>
              </p:ext>
            </p:extLst>
          </p:nvPr>
        </p:nvGraphicFramePr>
        <p:xfrm>
          <a:off x="2089533" y="3000935"/>
          <a:ext cx="821146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\D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Search non-digit characters</a:t>
                      </a:r>
                      <a:r>
                        <a:rPr lang="en-US" sz="20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the characters except digits</a:t>
                      </a:r>
                      <a:endParaRPr lang="en-IN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AF2D087A-E741-70F6-28A6-020B6D63E8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04697450"/>
              </p:ext>
            </p:extLst>
          </p:nvPr>
        </p:nvGraphicFramePr>
        <p:xfrm>
          <a:off x="2092643" y="3393792"/>
          <a:ext cx="820835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a whitespace character</a:t>
                      </a:r>
                      <a:endParaRPr lang="en-IN" sz="2000" dirty="0"/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EA7DDAE1-5DB2-63DE-0B79-82A944EC3F8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28719300"/>
              </p:ext>
            </p:extLst>
          </p:nvPr>
        </p:nvGraphicFramePr>
        <p:xfrm>
          <a:off x="2092642" y="3787816"/>
          <a:ext cx="8208354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\S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the non-whitespace characters</a:t>
                      </a:r>
                      <a:endParaRPr lang="en-US" sz="2000" b="0" kern="12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19490126-D0D5-4627-9679-C85D193E6F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20974768"/>
              </p:ext>
            </p:extLst>
          </p:nvPr>
        </p:nvGraphicFramePr>
        <p:xfrm>
          <a:off x="2095751" y="4180674"/>
          <a:ext cx="820524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3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\t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the tab character</a:t>
                      </a:r>
                      <a:endParaRPr lang="en-IN" sz="2000" dirty="0"/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7059AFAA-EAD4-8F09-801A-7206677F116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1583099"/>
              </p:ext>
            </p:extLst>
          </p:nvPr>
        </p:nvGraphicFramePr>
        <p:xfrm>
          <a:off x="2095750" y="4546709"/>
          <a:ext cx="820524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1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3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\0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 the NULL character</a:t>
                      </a:r>
                      <a:endParaRPr lang="en-IN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101838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D53E7-0448-9E2B-CF0A-609F78E31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31BBE-9445-8732-57DB-516EA2E03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RegExp</a:t>
            </a:r>
            <a:r>
              <a:rPr lang="en-US" dirty="0"/>
              <a:t> (Quantifiers)</a:t>
            </a: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192FEACF-B399-8B06-8291-68B94A49F284}"/>
              </a:ext>
            </a:extLst>
          </p:cNvPr>
          <p:cNvGraphicFramePr>
            <a:graphicFrameLocks/>
          </p:cNvGraphicFramePr>
          <p:nvPr/>
        </p:nvGraphicFramePr>
        <p:xfrm>
          <a:off x="2089532" y="1429738"/>
          <a:ext cx="8211464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7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Quantifier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Description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kern="1200" dirty="0"/>
                        <a:t>Matches any string that contains at least one 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7F3FD9B0-9C21-3CAF-567F-91960B6E5974}"/>
              </a:ext>
            </a:extLst>
          </p:cNvPr>
          <p:cNvGraphicFramePr>
            <a:graphicFrameLocks/>
          </p:cNvGraphicFramePr>
          <p:nvPr/>
        </p:nvGraphicFramePr>
        <p:xfrm>
          <a:off x="2089533" y="2212887"/>
          <a:ext cx="8211463" cy="40335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3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n*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Matches any string that contains zero or more occurrences of n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082D601-BC4B-C486-27B9-BA55023D3D54}"/>
              </a:ext>
            </a:extLst>
          </p:cNvPr>
          <p:cNvGraphicFramePr>
            <a:graphicFrameLocks/>
          </p:cNvGraphicFramePr>
          <p:nvPr/>
        </p:nvGraphicFramePr>
        <p:xfrm>
          <a:off x="2089533" y="2606911"/>
          <a:ext cx="821146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n?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Matches any string that contains zero or one occurrences of n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463078F5-9493-7540-AFDC-DD8AA58481AF}"/>
              </a:ext>
            </a:extLst>
          </p:cNvPr>
          <p:cNvGraphicFramePr>
            <a:graphicFrameLocks/>
          </p:cNvGraphicFramePr>
          <p:nvPr/>
        </p:nvGraphicFramePr>
        <p:xfrm>
          <a:off x="2089533" y="3000935"/>
          <a:ext cx="821146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n$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Matches any string with n at the end of it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70DC0A80-78EC-D871-B117-CDE7D2077B81}"/>
              </a:ext>
            </a:extLst>
          </p:cNvPr>
          <p:cNvGraphicFramePr>
            <a:graphicFrameLocks/>
          </p:cNvGraphicFramePr>
          <p:nvPr/>
        </p:nvGraphicFramePr>
        <p:xfrm>
          <a:off x="2092643" y="3393792"/>
          <a:ext cx="820835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^n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Matches any string with n at the beginning of it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CC0D40D4-E598-B492-8C56-3ED19368B36D}"/>
              </a:ext>
            </a:extLst>
          </p:cNvPr>
          <p:cNvGraphicFramePr>
            <a:graphicFrameLocks/>
          </p:cNvGraphicFramePr>
          <p:nvPr/>
        </p:nvGraphicFramePr>
        <p:xfrm>
          <a:off x="2092642" y="3787816"/>
          <a:ext cx="8208354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n{X}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Matches any string that contains a sequence of X n's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F90F0675-FB30-FAA9-EBF6-E7CCCBC1BD81}"/>
              </a:ext>
            </a:extLst>
          </p:cNvPr>
          <p:cNvGraphicFramePr>
            <a:graphicFrameLocks/>
          </p:cNvGraphicFramePr>
          <p:nvPr/>
        </p:nvGraphicFramePr>
        <p:xfrm>
          <a:off x="2095751" y="4180674"/>
          <a:ext cx="820524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3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n{X,Y}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/>
                      <a:r>
                        <a:rPr lang="en-US" sz="2000" b="0" kern="1200" dirty="0"/>
                        <a:t>Matches any string that contains a sequence of X to Y n's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1B880DF6-38C2-FEB4-E8AE-217104FCAFB4}"/>
              </a:ext>
            </a:extLst>
          </p:cNvPr>
          <p:cNvGraphicFramePr>
            <a:graphicFrameLocks/>
          </p:cNvGraphicFramePr>
          <p:nvPr/>
        </p:nvGraphicFramePr>
        <p:xfrm>
          <a:off x="2095750" y="4546709"/>
          <a:ext cx="8205245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1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3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n{X,}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b="0" dirty="0">
                          <a:effectLst/>
                        </a:rPr>
                        <a:t>Matches any string that contains a sequence of at least X n's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32440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6C3C3-86F1-60CC-C264-EF0BE10D6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B74D2-FD35-A10F-4741-E6131B842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Name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EABC0-CAC5-07E2-3718-4D29666D1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regular expression for matching a </a:t>
            </a:r>
            <a:r>
              <a:rPr lang="en-US" b="1" dirty="0">
                <a:solidFill>
                  <a:srgbClr val="C00000"/>
                </a:solidFill>
              </a:rPr>
              <a:t>basic name</a:t>
            </a:r>
            <a:r>
              <a:rPr lang="en-US" dirty="0"/>
              <a:t>:</a:t>
            </a:r>
          </a:p>
          <a:p>
            <a:pPr lvl="1"/>
            <a:r>
              <a:rPr lang="en-IN" sz="2200" dirty="0">
                <a:solidFill>
                  <a:srgbClr val="C00000"/>
                </a:solidFill>
                <a:latin typeface="Consolas" panose="020B0609020204030204" pitchFamily="49" charset="0"/>
              </a:rPr>
              <a:t>/^[a-zA-Z0-9]+$/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Maches</a:t>
            </a:r>
            <a:r>
              <a:rPr lang="en-US" b="1" dirty="0"/>
              <a:t>: </a:t>
            </a:r>
            <a:r>
              <a:rPr lang="en-US" dirty="0"/>
              <a:t>chirag123, </a:t>
            </a:r>
            <a:r>
              <a:rPr lang="en-US" dirty="0" err="1"/>
              <a:t>ChiragSakhrani</a:t>
            </a:r>
            <a:r>
              <a:rPr lang="en-US" dirty="0"/>
              <a:t>, CHIRAGSAKHRANI</a:t>
            </a:r>
          </a:p>
          <a:p>
            <a:r>
              <a:rPr lang="en-US" b="1" dirty="0"/>
              <a:t>Not Matches: </a:t>
            </a:r>
            <a:r>
              <a:rPr lang="en-US" dirty="0"/>
              <a:t>Chirag </a:t>
            </a:r>
            <a:r>
              <a:rPr lang="en-US" dirty="0" err="1"/>
              <a:t>Sakhrani</a:t>
            </a:r>
            <a:r>
              <a:rPr lang="en-US" dirty="0"/>
              <a:t>, </a:t>
            </a:r>
            <a:r>
              <a:rPr lang="en-US" dirty="0" err="1"/>
              <a:t>Chirag_Sakhrani</a:t>
            </a:r>
            <a:r>
              <a:rPr lang="en-US" dirty="0"/>
              <a:t>, Chirag-</a:t>
            </a:r>
            <a:r>
              <a:rPr lang="en-US" dirty="0" err="1"/>
              <a:t>Sakhrani</a:t>
            </a:r>
            <a:endParaRPr lang="en-IN" dirty="0"/>
          </a:p>
          <a:p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38C2EE7-7D1C-6AE6-F7B4-CD8F45B726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4688130"/>
              </p:ext>
            </p:extLst>
          </p:nvPr>
        </p:nvGraphicFramePr>
        <p:xfrm>
          <a:off x="512659" y="1728321"/>
          <a:ext cx="8211464" cy="10972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8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76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Component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Explanation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Delimiters that indicate the start and end of the regular expression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E63E6B7C-82A7-9B45-78CB-B973F54EA0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96213056"/>
              </p:ext>
            </p:extLst>
          </p:nvPr>
        </p:nvGraphicFramePr>
        <p:xfrm>
          <a:off x="512660" y="2511470"/>
          <a:ext cx="8211463" cy="40335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3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Anchors the match to the start of the string</a:t>
                      </a:r>
                      <a:endParaRPr lang="en-IN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08889AF2-3BE4-F3DF-F86B-585FD04F18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3668007"/>
              </p:ext>
            </p:extLst>
          </p:nvPr>
        </p:nvGraphicFramePr>
        <p:xfrm>
          <a:off x="512660" y="2905494"/>
          <a:ext cx="8211463" cy="13106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[a-zA-Z0-9]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This is a character class that matches: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a-z: Any lowercase letter from a to z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A-Z: Any uppercase letter from A to Z</a:t>
                      </a:r>
                    </a:p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0-9: Any digit from 0 to 9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9EB04D8C-672A-68F6-DE62-09FBBA0220F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19092589"/>
              </p:ext>
            </p:extLst>
          </p:nvPr>
        </p:nvGraphicFramePr>
        <p:xfrm>
          <a:off x="512660" y="4216134"/>
          <a:ext cx="821146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8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+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Quantifier for </a:t>
                      </a:r>
                      <a:r>
                        <a:rPr lang="en-US" sz="2000" dirty="0"/>
                        <a:t>"one or more occurrences"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0F04425-F464-F52F-4AFF-954B0150F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857163"/>
              </p:ext>
            </p:extLst>
          </p:nvPr>
        </p:nvGraphicFramePr>
        <p:xfrm>
          <a:off x="512659" y="4612374"/>
          <a:ext cx="820835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22638">
                  <a:extLst>
                    <a:ext uri="{9D8B030D-6E8A-4147-A177-3AD203B41FA5}">
                      <a16:colId xmlns:a16="http://schemas.microsoft.com/office/drawing/2014/main" val="3604140035"/>
                    </a:ext>
                  </a:extLst>
                </a:gridCol>
                <a:gridCol w="6785715">
                  <a:extLst>
                    <a:ext uri="{9D8B030D-6E8A-4147-A177-3AD203B41FA5}">
                      <a16:colId xmlns:a16="http://schemas.microsoft.com/office/drawing/2014/main" val="2770446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$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Anchors the match to the end of the string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865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8404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95A45-381E-1A10-7DC5-83F588E8E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D8F0F-EFDE-4A38-5EB2-DCE9CA54C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Name Validation Using </a:t>
            </a:r>
            <a:r>
              <a:rPr lang="en-US" dirty="0" err="1"/>
              <a:t>RegExp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DA60D2-9B9B-F6C5-E6DD-B3A8324D6BAA}"/>
              </a:ext>
            </a:extLst>
          </p:cNvPr>
          <p:cNvSpPr txBox="1"/>
          <p:nvPr/>
        </p:nvSpPr>
        <p:spPr>
          <a:xfrm>
            <a:off x="279991" y="1028343"/>
            <a:ext cx="10167851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JavaScript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&lt;script&gt;</a:t>
            </a:r>
          </a:p>
          <a:p>
            <a:r>
              <a:rPr lang="en-US" dirty="0">
                <a:latin typeface="Consolas" panose="020B0609020204030204" pitchFamily="49" charset="0"/>
              </a:rPr>
              <a:t>	var a = "Chirag-</a:t>
            </a:r>
            <a:r>
              <a:rPr lang="en-US" dirty="0" err="1">
                <a:latin typeface="Consolas" panose="020B0609020204030204" pitchFamily="49" charset="0"/>
              </a:rPr>
              <a:t>Sakhrani</a:t>
            </a:r>
            <a:r>
              <a:rPr lang="en-US" dirty="0">
                <a:latin typeface="Consolas" panose="020B0609020204030204" pitchFamily="49" charset="0"/>
              </a:rPr>
              <a:t>";</a:t>
            </a:r>
          </a:p>
          <a:p>
            <a:r>
              <a:rPr lang="en-US" dirty="0">
                <a:latin typeface="Consolas" panose="020B0609020204030204" pitchFamily="49" charset="0"/>
              </a:rPr>
              <a:t>	var regex = /^[a-zA-Z0-9]+$/; </a:t>
            </a:r>
          </a:p>
          <a:p>
            <a:r>
              <a:rPr lang="en-US" dirty="0">
                <a:latin typeface="Consolas" panose="020B0609020204030204" pitchFamily="49" charset="0"/>
              </a:rPr>
              <a:t>	if (</a:t>
            </a:r>
            <a:r>
              <a:rPr lang="en-US" dirty="0" err="1">
                <a:latin typeface="Consolas" panose="020B0609020204030204" pitchFamily="49" charset="0"/>
              </a:rPr>
              <a:t>regex.test</a:t>
            </a:r>
            <a:r>
              <a:rPr lang="en-US" dirty="0">
                <a:latin typeface="Consolas" panose="020B0609020204030204" pitchFamily="49" charset="0"/>
              </a:rPr>
              <a:t>(a)){</a:t>
            </a:r>
          </a:p>
          <a:p>
            <a:r>
              <a:rPr lang="en-US" dirty="0">
                <a:latin typeface="Consolas" panose="020B0609020204030204" pitchFamily="49" charset="0"/>
              </a:rPr>
              <a:t>		alert("Valid");</a:t>
            </a:r>
          </a:p>
          <a:p>
            <a:r>
              <a:rPr lang="en-US" dirty="0">
                <a:latin typeface="Consolas" panose="020B0609020204030204" pitchFamily="49" charset="0"/>
              </a:rPr>
              <a:t>	} </a:t>
            </a:r>
          </a:p>
          <a:p>
            <a:r>
              <a:rPr lang="en-US" dirty="0">
                <a:latin typeface="Consolas" panose="020B0609020204030204" pitchFamily="49" charset="0"/>
              </a:rPr>
              <a:t>	else{</a:t>
            </a:r>
          </a:p>
          <a:p>
            <a:r>
              <a:rPr lang="en-US" dirty="0">
                <a:latin typeface="Consolas" panose="020B0609020204030204" pitchFamily="49" charset="0"/>
              </a:rPr>
              <a:t>		alert("Invalid");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39010300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A9285-F106-36CD-70ED-0431A7A8E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D533D-7498-06F5-8E4D-28C4CA4B0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Phone Number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8DE75-0121-917D-8AED-6299F3979E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simple regular expression for matching a </a:t>
            </a:r>
            <a:r>
              <a:rPr lang="en-US" b="1" dirty="0">
                <a:solidFill>
                  <a:srgbClr val="C00000"/>
                </a:solidFill>
              </a:rPr>
              <a:t>phone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dirty="0">
                <a:solidFill>
                  <a:srgbClr val="C00000"/>
                </a:solidFill>
              </a:rPr>
              <a:t>number</a:t>
            </a:r>
            <a:r>
              <a:rPr lang="en-US" dirty="0"/>
              <a:t>:</a:t>
            </a:r>
          </a:p>
          <a:p>
            <a:pPr lvl="1"/>
            <a:r>
              <a:rPr lang="en-IN" sz="2200" dirty="0">
                <a:solidFill>
                  <a:srgbClr val="C00000"/>
                </a:solidFill>
                <a:latin typeface="Consolas" panose="020B0609020204030204" pitchFamily="49" charset="0"/>
              </a:rPr>
              <a:t>/^\d{3}-\d{3}-\d{4}$/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Maches</a:t>
            </a:r>
            <a:r>
              <a:rPr lang="en-US" b="1" dirty="0"/>
              <a:t>: </a:t>
            </a:r>
            <a:r>
              <a:rPr lang="en-IN" dirty="0"/>
              <a:t>123-456-7890</a:t>
            </a:r>
            <a:endParaRPr lang="en-US" dirty="0"/>
          </a:p>
          <a:p>
            <a:r>
              <a:rPr lang="en-US" b="1" dirty="0"/>
              <a:t>Not Matches: </a:t>
            </a:r>
            <a:r>
              <a:rPr lang="en-US" dirty="0"/>
              <a:t>123-45-67890,</a:t>
            </a:r>
            <a:r>
              <a:rPr lang="en-US" b="1" dirty="0"/>
              <a:t> </a:t>
            </a:r>
            <a:r>
              <a:rPr lang="en-IN" dirty="0"/>
              <a:t>1234567890, 123-456-78a0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C11C9C-DA6F-49E4-27B0-6741B65BBF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6971284"/>
              </p:ext>
            </p:extLst>
          </p:nvPr>
        </p:nvGraphicFramePr>
        <p:xfrm>
          <a:off x="512659" y="1728321"/>
          <a:ext cx="8592944" cy="7924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89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2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Component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dirty="0"/>
                        <a:t>Explanation </a:t>
                      </a:r>
                      <a:endParaRPr lang="en-US" sz="20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Delimiters that indicate the start and end of the regular expression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8B5E963-02A8-90F2-A09F-BB8A3C0D19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7740624"/>
              </p:ext>
            </p:extLst>
          </p:nvPr>
        </p:nvGraphicFramePr>
        <p:xfrm>
          <a:off x="512660" y="2511470"/>
          <a:ext cx="8592943" cy="40335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89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3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Anchors the match to the start of the string</a:t>
                      </a:r>
                      <a:endParaRPr lang="en-IN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FE19C55-B255-8503-E01D-A6EAD4F0D5A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8442902"/>
              </p:ext>
            </p:extLst>
          </p:nvPr>
        </p:nvGraphicFramePr>
        <p:xfrm>
          <a:off x="512660" y="2905494"/>
          <a:ext cx="8592943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89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\d{3}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Matches exactly three digits (0-9)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2D0CEE3B-3F56-0184-A5DF-1BA8FAD70F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2761848"/>
              </p:ext>
            </p:extLst>
          </p:nvPr>
        </p:nvGraphicFramePr>
        <p:xfrm>
          <a:off x="512659" y="3304729"/>
          <a:ext cx="8592943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89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35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-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Matches the literal hyphen (-) character, which separates parts of the phone number</a:t>
                      </a:r>
                      <a:endParaRPr lang="en-US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C024672-C26C-E694-3A9E-80F180A69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1216932"/>
              </p:ext>
            </p:extLst>
          </p:nvPr>
        </p:nvGraphicFramePr>
        <p:xfrm>
          <a:off x="515913" y="3999433"/>
          <a:ext cx="8589689" cy="701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88730">
                  <a:extLst>
                    <a:ext uri="{9D8B030D-6E8A-4147-A177-3AD203B41FA5}">
                      <a16:colId xmlns:a16="http://schemas.microsoft.com/office/drawing/2014/main" val="3604140035"/>
                    </a:ext>
                  </a:extLst>
                </a:gridCol>
                <a:gridCol w="7100959">
                  <a:extLst>
                    <a:ext uri="{9D8B030D-6E8A-4147-A177-3AD203B41FA5}">
                      <a16:colId xmlns:a16="http://schemas.microsoft.com/office/drawing/2014/main" val="2770446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\d{4}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dirty="0"/>
                        <a:t>Matches exactly four digits (0-9), representing the last part of the phone number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865063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49B24B93-1B43-3151-1B3E-12D7294265A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6400000"/>
              </p:ext>
            </p:extLst>
          </p:nvPr>
        </p:nvGraphicFramePr>
        <p:xfrm>
          <a:off x="512659" y="4700473"/>
          <a:ext cx="8589689" cy="3962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488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0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/>
                        <a:t>$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Anchors the match to the end of the string</a:t>
                      </a:r>
                      <a:endParaRPr lang="en-US" sz="20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6142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0F63F-CB68-DCB1-8070-F0093A1BF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C9B2B-55E5-7D81-5DD4-1C9B49194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Phone Number Validation Using </a:t>
            </a:r>
            <a:r>
              <a:rPr lang="en-US" dirty="0" err="1"/>
              <a:t>RegExp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472637-FF90-1A99-D6AC-5B936224A391}"/>
              </a:ext>
            </a:extLst>
          </p:cNvPr>
          <p:cNvSpPr txBox="1"/>
          <p:nvPr/>
        </p:nvSpPr>
        <p:spPr>
          <a:xfrm>
            <a:off x="279991" y="1028343"/>
            <a:ext cx="10167851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JavaScript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&lt;script&gt;</a:t>
            </a:r>
          </a:p>
          <a:p>
            <a:r>
              <a:rPr lang="en-US" dirty="0">
                <a:latin typeface="Consolas" panose="020B0609020204030204" pitchFamily="49" charset="0"/>
              </a:rPr>
              <a:t>	var a = "123-456-7890";</a:t>
            </a:r>
          </a:p>
          <a:p>
            <a:r>
              <a:rPr lang="en-US" dirty="0">
                <a:latin typeface="Consolas" panose="020B0609020204030204" pitchFamily="49" charset="0"/>
              </a:rPr>
              <a:t>	var regex = /^\d{3}-\d{3}-\d{4}$/; </a:t>
            </a:r>
          </a:p>
          <a:p>
            <a:r>
              <a:rPr lang="en-US" dirty="0">
                <a:latin typeface="Consolas" panose="020B0609020204030204" pitchFamily="49" charset="0"/>
              </a:rPr>
              <a:t>	if (</a:t>
            </a:r>
            <a:r>
              <a:rPr lang="en-US" dirty="0" err="1">
                <a:latin typeface="Consolas" panose="020B0609020204030204" pitchFamily="49" charset="0"/>
              </a:rPr>
              <a:t>regex.test</a:t>
            </a:r>
            <a:r>
              <a:rPr lang="en-US" dirty="0">
                <a:latin typeface="Consolas" panose="020B0609020204030204" pitchFamily="49" charset="0"/>
              </a:rPr>
              <a:t>(a)){</a:t>
            </a:r>
          </a:p>
          <a:p>
            <a:r>
              <a:rPr lang="en-US" dirty="0">
                <a:latin typeface="Consolas" panose="020B0609020204030204" pitchFamily="49" charset="0"/>
              </a:rPr>
              <a:t>		alert("Valid");</a:t>
            </a:r>
          </a:p>
          <a:p>
            <a:r>
              <a:rPr lang="en-US" dirty="0">
                <a:latin typeface="Consolas" panose="020B0609020204030204" pitchFamily="49" charset="0"/>
              </a:rPr>
              <a:t>	} </a:t>
            </a:r>
          </a:p>
          <a:p>
            <a:r>
              <a:rPr lang="en-US" dirty="0">
                <a:latin typeface="Consolas" panose="020B0609020204030204" pitchFamily="49" charset="0"/>
              </a:rPr>
              <a:t>	else{</a:t>
            </a:r>
          </a:p>
          <a:p>
            <a:r>
              <a:rPr lang="en-US" dirty="0">
                <a:latin typeface="Consolas" panose="020B0609020204030204" pitchFamily="49" charset="0"/>
              </a:rPr>
              <a:t>		alert("Invalid");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0040908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71397-8CA0-9796-6DC8-7B056F04D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F3A08-3BEA-89EB-07BC-1EC7430B7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Email Address Validation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299F0-3626-4B21-F558-0D883EDAD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79" y="711201"/>
            <a:ext cx="11929641" cy="5590565"/>
          </a:xfrm>
        </p:spPr>
        <p:txBody>
          <a:bodyPr/>
          <a:lstStyle/>
          <a:p>
            <a:r>
              <a:rPr lang="en-US" dirty="0"/>
              <a:t>A simple regular expression for matching a </a:t>
            </a:r>
            <a:r>
              <a:rPr lang="en-US" dirty="0">
                <a:solidFill>
                  <a:srgbClr val="C00000"/>
                </a:solidFill>
              </a:rPr>
              <a:t>email address</a:t>
            </a:r>
            <a:r>
              <a:rPr lang="en-US" dirty="0"/>
              <a:t>:</a:t>
            </a:r>
          </a:p>
          <a:p>
            <a:pPr lvl="1"/>
            <a:r>
              <a:rPr lang="en-IN" sz="2200" dirty="0">
                <a:solidFill>
                  <a:srgbClr val="C00000"/>
                </a:solidFill>
                <a:latin typeface="Consolas" panose="020B0609020204030204" pitchFamily="49" charset="0"/>
              </a:rPr>
              <a:t>/^([a-zA-Z0-9._%+-]+)@([a-zA-Z0-9.-]+\.[a-zA-Z]{2,})$/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b="1" dirty="0"/>
          </a:p>
          <a:p>
            <a:pPr>
              <a:lnSpc>
                <a:spcPct val="150000"/>
              </a:lnSpc>
            </a:pPr>
            <a:r>
              <a:rPr lang="en-US" b="1" dirty="0" err="1"/>
              <a:t>Maches</a:t>
            </a:r>
            <a:r>
              <a:rPr lang="en-US" b="1" dirty="0"/>
              <a:t>: </a:t>
            </a:r>
            <a:r>
              <a:rPr lang="en-IN" sz="2200" dirty="0">
                <a:hlinkClick r:id="rId2"/>
              </a:rPr>
              <a:t>user123@example.com</a:t>
            </a:r>
            <a:r>
              <a:rPr lang="en-IN" sz="2200" dirty="0"/>
              <a:t>, </a:t>
            </a:r>
            <a:r>
              <a:rPr lang="en-IN" sz="2200" dirty="0">
                <a:hlinkClick r:id="rId3"/>
              </a:rPr>
              <a:t>john.doe@sub.example.org</a:t>
            </a:r>
            <a:r>
              <a:rPr lang="en-IN" sz="2200" dirty="0"/>
              <a:t>, </a:t>
            </a:r>
            <a:r>
              <a:rPr lang="en-IN" sz="2200" dirty="0">
                <a:hlinkClick r:id="rId4"/>
              </a:rPr>
              <a:t>user+name@domain.co.uk</a:t>
            </a:r>
            <a:r>
              <a:rPr lang="en-IN" sz="2200" dirty="0"/>
              <a:t> </a:t>
            </a:r>
            <a:endParaRPr lang="en-US" sz="2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41B3127-CFC1-A7AA-298E-B07A16D47C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3131356"/>
              </p:ext>
            </p:extLst>
          </p:nvPr>
        </p:nvGraphicFramePr>
        <p:xfrm>
          <a:off x="512658" y="1541707"/>
          <a:ext cx="9937627" cy="7416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7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Component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/>
                        <a:t>Explanation </a:t>
                      </a:r>
                      <a:endParaRPr lang="en-US" sz="1800" dirty="0"/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Delimiters that indicate the start and end of the regular expression</a:t>
                      </a:r>
                      <a:endParaRPr lang="en-IN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845F6141-9A18-EB40-8FAA-59C45F5764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5731873"/>
              </p:ext>
            </p:extLst>
          </p:nvPr>
        </p:nvGraphicFramePr>
        <p:xfrm>
          <a:off x="512660" y="2287532"/>
          <a:ext cx="9937626" cy="403355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9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335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^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Anchors the match to the start of the string</a:t>
                      </a:r>
                      <a:endParaRPr lang="en-IN" sz="1800" dirty="0"/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CCF4F3A-158D-2088-1519-9227580E3B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28115065"/>
              </p:ext>
            </p:extLst>
          </p:nvPr>
        </p:nvGraphicFramePr>
        <p:xfrm>
          <a:off x="512660" y="2681556"/>
          <a:ext cx="9937626" cy="118872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9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77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/>
                        <a:t>([a-zA-Z0-9._%+-]+)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Matches the local part of the email (before the @).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[a-zA-Z0-9._%+-] : Allows alphanumeric characters (a-z, A-Z, 0-9) and special characters (., _, %, +, -).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:  Ensures one or more characters in the local part.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0266DAB-786F-1054-F519-E3EF81C346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9893531"/>
              </p:ext>
            </p:extLst>
          </p:nvPr>
        </p:nvGraphicFramePr>
        <p:xfrm>
          <a:off x="512658" y="3870899"/>
          <a:ext cx="9937626" cy="14630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9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37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/>
                        <a:t>([a-zA-Z0-9.-]+\.[a-</a:t>
                      </a:r>
                      <a:r>
                        <a:rPr lang="en-US" sz="1800" b="0" kern="1200" dirty="0" err="1"/>
                        <a:t>zA</a:t>
                      </a:r>
                      <a:r>
                        <a:rPr lang="en-US" sz="1800" b="0" kern="1200" dirty="0"/>
                        <a:t>-Z]{2,})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Matches the domain part of the email (after the @).</a:t>
                      </a:r>
                    </a:p>
                    <a:p>
                      <a:r>
                        <a:rPr lang="en-US" sz="1800" b="0" dirty="0"/>
                        <a:t>[a-zA-Z0-9.-]+ : Allows alphanumeric characters (a-z, A-Z, 0-9), dots (.), and hyphens (-).</a:t>
                      </a:r>
                    </a:p>
                    <a:p>
                      <a:r>
                        <a:rPr lang="en-US" sz="1800" b="0" dirty="0"/>
                        <a:t>\. : Ensures the presence of a dot separator in the domain.</a:t>
                      </a:r>
                    </a:p>
                    <a:p>
                      <a:r>
                        <a:rPr lang="en-US" sz="1800" b="0" dirty="0"/>
                        <a:t>[a-</a:t>
                      </a:r>
                      <a:r>
                        <a:rPr lang="en-US" sz="1800" b="0" dirty="0" err="1"/>
                        <a:t>zA</a:t>
                      </a:r>
                      <a:r>
                        <a:rPr lang="en-US" sz="1800" b="0" dirty="0"/>
                        <a:t>-Z]{2,} : Requires a top-level domain with at least 2 letters (e.g., .com, .org, .io).</a:t>
                      </a:r>
                    </a:p>
                  </a:txBody>
                  <a:tcP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40421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5939AD5-D1BB-2062-2965-396C53DF1C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562698"/>
              </p:ext>
            </p:extLst>
          </p:nvPr>
        </p:nvGraphicFramePr>
        <p:xfrm>
          <a:off x="512656" y="5333939"/>
          <a:ext cx="9937626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2099915">
                  <a:extLst>
                    <a:ext uri="{9D8B030D-6E8A-4147-A177-3AD203B41FA5}">
                      <a16:colId xmlns:a16="http://schemas.microsoft.com/office/drawing/2014/main" val="3604140035"/>
                    </a:ext>
                  </a:extLst>
                </a:gridCol>
                <a:gridCol w="7837711">
                  <a:extLst>
                    <a:ext uri="{9D8B030D-6E8A-4147-A177-3AD203B41FA5}">
                      <a16:colId xmlns:a16="http://schemas.microsoft.com/office/drawing/2014/main" val="2770446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/>
                        <a:t>$</a:t>
                      </a:r>
                    </a:p>
                  </a:txBody>
                  <a:tcPr>
                    <a:solidFill>
                      <a:srgbClr val="CCDE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/>
                        <a:t>Anchors the match to the end of the string</a:t>
                      </a:r>
                      <a:endParaRPr lang="en-US" sz="1800" dirty="0"/>
                    </a:p>
                  </a:txBody>
                  <a:tcPr>
                    <a:solidFill>
                      <a:srgbClr val="CCDE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8650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63400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862BF-D87A-9EA0-99C2-1971B3CE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AC54E-8DD9-3032-38D6-BBBD11D1E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Validation Using </a:t>
            </a:r>
            <a:r>
              <a:rPr lang="en-US" dirty="0" err="1"/>
              <a:t>RegExp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F5274-A701-C025-37E0-4647EAAECC64}"/>
              </a:ext>
            </a:extLst>
          </p:cNvPr>
          <p:cNvSpPr txBox="1"/>
          <p:nvPr/>
        </p:nvSpPr>
        <p:spPr>
          <a:xfrm>
            <a:off x="279991" y="1028343"/>
            <a:ext cx="10167851" cy="3139321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JavaScript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&lt;script&gt;</a:t>
            </a:r>
          </a:p>
          <a:p>
            <a:r>
              <a:rPr lang="en-US" dirty="0">
                <a:latin typeface="Consolas" panose="020B0609020204030204" pitchFamily="49" charset="0"/>
              </a:rPr>
              <a:t>	var a = "chiragsakhrani@gmail.com";</a:t>
            </a:r>
          </a:p>
          <a:p>
            <a:r>
              <a:rPr lang="en-US" dirty="0">
                <a:latin typeface="Consolas" panose="020B0609020204030204" pitchFamily="49" charset="0"/>
              </a:rPr>
              <a:t>	var regex = /^([a-zA-Z0-9._%+-]+)@([a-zA-Z0-9.-]+\.[a-zA-Z]{2,})$/; </a:t>
            </a:r>
          </a:p>
          <a:p>
            <a:r>
              <a:rPr lang="en-US" dirty="0">
                <a:latin typeface="Consolas" panose="020B0609020204030204" pitchFamily="49" charset="0"/>
              </a:rPr>
              <a:t>	if (</a:t>
            </a:r>
            <a:r>
              <a:rPr lang="en-US" dirty="0" err="1">
                <a:latin typeface="Consolas" panose="020B0609020204030204" pitchFamily="49" charset="0"/>
              </a:rPr>
              <a:t>regex.test</a:t>
            </a:r>
            <a:r>
              <a:rPr lang="en-US" dirty="0">
                <a:latin typeface="Consolas" panose="020B0609020204030204" pitchFamily="49" charset="0"/>
              </a:rPr>
              <a:t>(a)){</a:t>
            </a:r>
          </a:p>
          <a:p>
            <a:r>
              <a:rPr lang="en-US" dirty="0">
                <a:latin typeface="Consolas" panose="020B0609020204030204" pitchFamily="49" charset="0"/>
              </a:rPr>
              <a:t>		alert("Valid");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	else{</a:t>
            </a:r>
          </a:p>
          <a:p>
            <a:r>
              <a:rPr lang="en-US" dirty="0">
                <a:latin typeface="Consolas" panose="020B0609020204030204" pitchFamily="49" charset="0"/>
              </a:rPr>
              <a:t>		alert("Invalid");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19246386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Validation Using </a:t>
            </a:r>
            <a:r>
              <a:rPr lang="en-US" dirty="0" err="1"/>
              <a:t>RegExp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79991" y="1028343"/>
            <a:ext cx="10167851" cy="4801314"/>
          </a:xfrm>
          <a:prstGeom prst="rect">
            <a:avLst/>
          </a:prstGeom>
          <a:ln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JavaScript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&lt;script&gt;</a:t>
            </a:r>
          </a:p>
          <a:p>
            <a:r>
              <a:rPr lang="en-US" dirty="0">
                <a:latin typeface="Consolas" panose="020B0609020204030204" pitchFamily="49" charset="0"/>
              </a:rPr>
              <a:t>	function </a:t>
            </a:r>
            <a:r>
              <a:rPr lang="en-US" dirty="0" err="1">
                <a:latin typeface="Consolas" panose="020B0609020204030204" pitchFamily="49" charset="0"/>
              </a:rPr>
              <a:t>checkMail</a:t>
            </a:r>
            <a:r>
              <a:rPr lang="en-US" dirty="0">
                <a:latin typeface="Consolas" panose="020B0609020204030204" pitchFamily="49" charset="0"/>
              </a:rPr>
              <a:t>()</a:t>
            </a:r>
          </a:p>
          <a:p>
            <a:r>
              <a:rPr lang="en-US" dirty="0">
                <a:latin typeface="Consolas" panose="020B0609020204030204" pitchFamily="49" charset="0"/>
              </a:rPr>
              <a:t>	{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a = </a:t>
            </a:r>
            <a:r>
              <a:rPr lang="en-US" dirty="0" err="1">
                <a:latin typeface="Consolas" panose="020B0609020204030204" pitchFamily="49" charset="0"/>
              </a:rPr>
              <a:t>document.getElementById</a:t>
            </a:r>
            <a:r>
              <a:rPr lang="en-US" dirty="0">
                <a:latin typeface="Consolas" panose="020B0609020204030204" pitchFamily="49" charset="0"/>
              </a:rPr>
              <a:t>("</a:t>
            </a:r>
            <a:r>
              <a:rPr lang="en-US" dirty="0" err="1">
                <a:latin typeface="Consolas" panose="020B0609020204030204" pitchFamily="49" charset="0"/>
              </a:rPr>
              <a:t>myText</a:t>
            </a:r>
            <a:r>
              <a:rPr lang="en-US" dirty="0">
                <a:latin typeface="Consolas" panose="020B0609020204030204" pitchFamily="49" charset="0"/>
              </a:rPr>
              <a:t>").value;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pattern ="^[\\w-_\.]*[\\w-_\.]\@[\\w]\.+[\\w]+[\\w]$”;</a:t>
            </a:r>
          </a:p>
          <a:p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 err="1">
                <a:latin typeface="Consolas" panose="020B0609020204030204" pitchFamily="49" charset="0"/>
              </a:rPr>
              <a:t>var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regex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RegExp</a:t>
            </a:r>
            <a:r>
              <a:rPr lang="en-US" dirty="0">
                <a:latin typeface="Consolas" panose="020B0609020204030204" pitchFamily="49" charset="0"/>
              </a:rPr>
              <a:t>(pattern);</a:t>
            </a:r>
          </a:p>
          <a:p>
            <a:r>
              <a:rPr lang="en-US" dirty="0">
                <a:latin typeface="Consolas" panose="020B0609020204030204" pitchFamily="49" charset="0"/>
              </a:rPr>
              <a:t>		if(</a:t>
            </a:r>
            <a:r>
              <a:rPr lang="en-US" dirty="0" err="1">
                <a:latin typeface="Consolas" panose="020B0609020204030204" pitchFamily="49" charset="0"/>
              </a:rPr>
              <a:t>regex.test</a:t>
            </a:r>
            <a:r>
              <a:rPr lang="en-US" dirty="0">
                <a:latin typeface="Consolas" panose="020B0609020204030204" pitchFamily="49" charset="0"/>
              </a:rPr>
              <a:t>(a))</a:t>
            </a:r>
          </a:p>
          <a:p>
            <a:r>
              <a:rPr lang="en-US" dirty="0">
                <a:latin typeface="Consolas" panose="020B0609020204030204" pitchFamily="49" charset="0"/>
              </a:rPr>
              <a:t>		{</a:t>
            </a:r>
          </a:p>
          <a:p>
            <a:r>
              <a:rPr lang="en-US" dirty="0">
                <a:latin typeface="Consolas" panose="020B0609020204030204" pitchFamily="49" charset="0"/>
              </a:rPr>
              <a:t>			alert("Valid");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	else</a:t>
            </a:r>
          </a:p>
          <a:p>
            <a:r>
              <a:rPr lang="en-US" dirty="0">
                <a:latin typeface="Consolas" panose="020B0609020204030204" pitchFamily="49" charset="0"/>
              </a:rPr>
              <a:t>		{</a:t>
            </a:r>
          </a:p>
          <a:p>
            <a:r>
              <a:rPr lang="en-US" dirty="0">
                <a:latin typeface="Consolas" panose="020B0609020204030204" pitchFamily="49" charset="0"/>
              </a:rPr>
              <a:t>			alert("Invalid");</a:t>
            </a:r>
          </a:p>
          <a:p>
            <a:r>
              <a:rPr lang="en-US" dirty="0">
                <a:latin typeface="Consolas" panose="020B0609020204030204" pitchFamily="49" charset="0"/>
              </a:rPr>
              <a:t>		}</a:t>
            </a:r>
          </a:p>
          <a:p>
            <a:r>
              <a:rPr lang="en-US" dirty="0">
                <a:latin typeface="Consolas" panose="020B0609020204030204" pitchFamily="49" charset="0"/>
              </a:rPr>
              <a:t>	}</a:t>
            </a:r>
          </a:p>
          <a:p>
            <a:r>
              <a:rPr lang="en-US" dirty="0">
                <a:latin typeface="Consolas" panose="020B0609020204030204" pitchFamily="49" charset="0"/>
              </a:rPr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120339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chirag.sakhrani@darshan.ac.in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8401191184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Application Department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Chirag</a:t>
            </a:r>
            <a:r>
              <a:rPr lang="en-IN" dirty="0"/>
              <a:t> K </a:t>
            </a:r>
            <a:r>
              <a:rPr lang="en-IN" dirty="0" err="1"/>
              <a:t>Sakhrani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Client Side Scripting using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en-IN" dirty="0"/>
              <a:t> (CSJS) (</a:t>
            </a:r>
            <a:r>
              <a:rPr lang="en-US" dirty="0"/>
              <a:t>2304CS431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0" name="Picture Placeholder 9"/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12189917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7250</TotalTime>
  <Words>1592</Words>
  <Application>Microsoft Office PowerPoint</Application>
  <PresentationFormat>Widescreen</PresentationFormat>
  <Paragraphs>336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Consolas</vt:lpstr>
      <vt:lpstr>Roboto Condensed Light</vt:lpstr>
      <vt:lpstr>Arial</vt:lpstr>
      <vt:lpstr>Wingdings 3</vt:lpstr>
      <vt:lpstr>Wingdings 2</vt:lpstr>
      <vt:lpstr>Roboto Condensed</vt:lpstr>
      <vt:lpstr>Segoe UI Black</vt:lpstr>
      <vt:lpstr>Wingdings</vt:lpstr>
      <vt:lpstr>Calibri</vt:lpstr>
      <vt:lpstr>Office Theme</vt:lpstr>
      <vt:lpstr>Unit-02  Functions and Regular Expressions</vt:lpstr>
      <vt:lpstr>PowerPoint Presentation</vt:lpstr>
      <vt:lpstr>Functions</vt:lpstr>
      <vt:lpstr>Functions </vt:lpstr>
      <vt:lpstr>Pop up Boxes</vt:lpstr>
      <vt:lpstr>Confirm Box</vt:lpstr>
      <vt:lpstr>Alert Box</vt:lpstr>
      <vt:lpstr>Prompt Box</vt:lpstr>
      <vt:lpstr>Inbuilt Functions</vt:lpstr>
      <vt:lpstr>Validation</vt:lpstr>
      <vt:lpstr>Validation </vt:lpstr>
      <vt:lpstr>Validation using RegExp</vt:lpstr>
      <vt:lpstr>Validation using RegExp</vt:lpstr>
      <vt:lpstr>RegExp (Metacharacters)</vt:lpstr>
      <vt:lpstr>RegExp (Metacharacters)</vt:lpstr>
      <vt:lpstr>RegExp (Quantifiers)</vt:lpstr>
      <vt:lpstr>Basic Name Validation</vt:lpstr>
      <vt:lpstr>Name Validation Using RegExp</vt:lpstr>
      <vt:lpstr>Phone Number Validation</vt:lpstr>
      <vt:lpstr>Phone Number Validation Using RegExp</vt:lpstr>
      <vt:lpstr>Email Address Validation</vt:lpstr>
      <vt:lpstr>Email Validation Using RegExp</vt:lpstr>
      <vt:lpstr>Email Validation Using RegExp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945</cp:revision>
  <dcterms:created xsi:type="dcterms:W3CDTF">2020-05-01T05:09:15Z</dcterms:created>
  <dcterms:modified xsi:type="dcterms:W3CDTF">2025-11-26T03:20:10Z</dcterms:modified>
</cp:coreProperties>
</file>