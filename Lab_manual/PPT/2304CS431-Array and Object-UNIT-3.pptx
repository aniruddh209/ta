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308" r:id="rId2"/>
    <p:sldId id="352" r:id="rId3"/>
    <p:sldId id="447" r:id="rId4"/>
    <p:sldId id="448" r:id="rId5"/>
    <p:sldId id="490" r:id="rId6"/>
    <p:sldId id="449" r:id="rId7"/>
    <p:sldId id="450" r:id="rId8"/>
    <p:sldId id="451" r:id="rId9"/>
    <p:sldId id="453" r:id="rId10"/>
    <p:sldId id="454" r:id="rId11"/>
    <p:sldId id="455" r:id="rId12"/>
    <p:sldId id="480" r:id="rId13"/>
    <p:sldId id="482" r:id="rId14"/>
    <p:sldId id="458" r:id="rId15"/>
    <p:sldId id="459" r:id="rId16"/>
    <p:sldId id="483" r:id="rId17"/>
    <p:sldId id="484" r:id="rId18"/>
    <p:sldId id="461" r:id="rId19"/>
    <p:sldId id="462" r:id="rId20"/>
    <p:sldId id="463" r:id="rId21"/>
    <p:sldId id="464" r:id="rId22"/>
    <p:sldId id="485" r:id="rId23"/>
    <p:sldId id="486" r:id="rId24"/>
    <p:sldId id="467" r:id="rId25"/>
    <p:sldId id="468" r:id="rId26"/>
    <p:sldId id="469" r:id="rId27"/>
    <p:sldId id="470" r:id="rId28"/>
    <p:sldId id="471" r:id="rId29"/>
    <p:sldId id="491" r:id="rId30"/>
    <p:sldId id="472" r:id="rId31"/>
    <p:sldId id="473" r:id="rId32"/>
    <p:sldId id="474" r:id="rId33"/>
    <p:sldId id="487" r:id="rId34"/>
    <p:sldId id="488" r:id="rId35"/>
    <p:sldId id="489" r:id="rId36"/>
    <p:sldId id="478" r:id="rId37"/>
    <p:sldId id="479" r:id="rId38"/>
    <p:sldId id="358" r:id="rId39"/>
  </p:sldIdLst>
  <p:sldSz cx="12192000" cy="6858000"/>
  <p:notesSz cx="6858000" cy="9144000"/>
  <p:embeddedFontLst>
    <p:embeddedFont>
      <p:font typeface="Wingdings 3" panose="05040102010807070707" pitchFamily="18" charset="2"/>
      <p:regular r:id="rId42"/>
    </p:embeddedFont>
    <p:embeddedFont>
      <p:font typeface="Segoe UI Black" panose="020B0A02040204020203" pitchFamily="34" charset="0"/>
      <p:bold r:id="rId43"/>
      <p:boldItalic r:id="rId44"/>
    </p:embeddedFont>
    <p:embeddedFont>
      <p:font typeface="Roboto Condensed" panose="02000000000000000000" pitchFamily="2" charset="0"/>
      <p:regular r:id="rId45"/>
      <p:bold r:id="rId46"/>
      <p:italic r:id="rId47"/>
      <p:boldItalic r:id="rId48"/>
    </p:embeddedFont>
    <p:embeddedFont>
      <p:font typeface="Wingdings 2" panose="05020102010507070707" pitchFamily="18" charset="2"/>
      <p:regular r:id="rId49"/>
    </p:embeddedFont>
    <p:embeddedFont>
      <p:font typeface="Roboto Condensed Light" panose="02000000000000000000" pitchFamily="2" charset="0"/>
      <p:regular r:id="rId50"/>
      <p:italic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nyfjtCK8sSu/UG+KMr4/2Q==" hashData="xNm68dn++k4KYFnlQCIexfBxvh6IaH73bRiuqC5QMjs07U+7IQKTqoUH2Pj2WHnqC/soQapz9CCYV4rRcC3zug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CDED6"/>
    <a:srgbClr val="D4DED6"/>
    <a:srgbClr val="ED524F"/>
    <a:srgbClr val="301B92"/>
    <a:srgbClr val="673BB7"/>
    <a:srgbClr val="607D8B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6661BD-6D17-985A-F5E5-AD51B17024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D6B66-72F6-72D1-7DB8-6C4AF76439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5F93D-7037-4174-A478-29F3D79DAB26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7202B-CAC8-C0DF-7AA0-56801333F5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8D1201-92F1-568D-24EB-2E87EBF297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C526C-E11C-431A-B251-45EFE675AE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5676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5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Chirag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2304CS431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(CSJS)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Array and Object 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4660802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chirag.sakhrani@darshan.ac.in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8401191184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Chirag</a:t>
            </a:r>
            <a:r>
              <a:rPr lang="en-IN" dirty="0"/>
              <a:t> K </a:t>
            </a:r>
            <a:r>
              <a:rPr lang="en-IN" dirty="0" err="1"/>
              <a:t>Sakhrani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93723" y="4680"/>
            <a:ext cx="4646358" cy="734653"/>
          </a:xfrm>
        </p:spPr>
        <p:txBody>
          <a:bodyPr/>
          <a:lstStyle/>
          <a:p>
            <a:r>
              <a:rPr lang="en-US" dirty="0"/>
              <a:t>Client Side Scripting using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IN" dirty="0"/>
              <a:t> (CSJS) (</a:t>
            </a:r>
            <a:r>
              <a:rPr lang="en-US" dirty="0"/>
              <a:t>2304CS431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89" y="1336977"/>
            <a:ext cx="7334208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Unit-03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Array and Object</a:t>
            </a:r>
          </a:p>
        </p:txBody>
      </p:sp>
      <p:pic>
        <p:nvPicPr>
          <p:cNvPr id="17" name="Picture 1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21548" y="2278951"/>
            <a:ext cx="3209886" cy="2300098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3779C1-4B33-15F6-3E86-51F0E5E60CFF}"/>
              </a:ext>
            </a:extLst>
          </p:cNvPr>
          <p:cNvSpPr txBox="1"/>
          <p:nvPr/>
        </p:nvSpPr>
        <p:spPr>
          <a:xfrm>
            <a:off x="869989" y="3993932"/>
            <a:ext cx="70353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CO3 : at the end of this chapter, students will be able to,</a:t>
            </a:r>
          </a:p>
          <a:p>
            <a:r>
              <a:rPr lang="en-US" sz="2400" dirty="0"/>
              <a:t>          use array methods and objects in JS</a:t>
            </a:r>
            <a:r>
              <a:rPr lang="en-IN" sz="2400" dirty="0"/>
              <a:t>. </a:t>
            </a:r>
            <a:r>
              <a:rPr lang="en-US" sz="2400" i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12385"/>
            <a:ext cx="592590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JavaScript Arrays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Array Properties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Array Methods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Introduction to JS Objects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Inbuilt Objects (string, date, math, etc…)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DOM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DHTML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Mouse event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Keyboard event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Form/object event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Callback in JavaScript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Function as argument</a:t>
            </a:r>
          </a:p>
          <a:p>
            <a:pPr indent="446088">
              <a:buFont typeface="Wingdings" pitchFamily="2" charset="2"/>
              <a:buChar char="ü"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6108586" y="720132"/>
            <a:ext cx="4637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964819" cy="5590565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array</a:t>
            </a:r>
            <a:r>
              <a:rPr lang="en-US" dirty="0"/>
              <a:t> is a </a:t>
            </a:r>
            <a:r>
              <a:rPr lang="en-US" dirty="0">
                <a:solidFill>
                  <a:srgbClr val="C00000"/>
                </a:solidFill>
              </a:rPr>
              <a:t>collection of data</a:t>
            </a:r>
            <a:r>
              <a:rPr lang="en-US" dirty="0"/>
              <a:t>, each item in array has an index to access it.</a:t>
            </a:r>
          </a:p>
          <a:p>
            <a:r>
              <a:rPr lang="en-US" dirty="0"/>
              <a:t>Ways to use array in JavaScript</a:t>
            </a:r>
          </a:p>
          <a:p>
            <a:pPr lvl="1"/>
            <a:r>
              <a:rPr lang="en-US" sz="2200" dirty="0" err="1"/>
              <a:t>var</a:t>
            </a:r>
            <a:r>
              <a:rPr lang="en-US" sz="2200" dirty="0"/>
              <a:t> </a:t>
            </a:r>
            <a:r>
              <a:rPr lang="en-US" sz="2200" dirty="0" err="1"/>
              <a:t>myArray</a:t>
            </a:r>
            <a:r>
              <a:rPr lang="en-US" sz="2200" dirty="0"/>
              <a:t> = new Array();</a:t>
            </a:r>
          </a:p>
          <a:p>
            <a:pPr lvl="2">
              <a:buNone/>
            </a:pPr>
            <a:r>
              <a:rPr lang="en-US" sz="2200" dirty="0" err="1"/>
              <a:t>myArray</a:t>
            </a:r>
            <a:r>
              <a:rPr lang="en-US" sz="2200" dirty="0"/>
              <a:t>[0] = “</a:t>
            </a:r>
            <a:r>
              <a:rPr lang="en-US" sz="2200" dirty="0" err="1"/>
              <a:t>darshan</a:t>
            </a:r>
            <a:r>
              <a:rPr lang="en-US" sz="2200" dirty="0"/>
              <a:t>”;</a:t>
            </a:r>
          </a:p>
          <a:p>
            <a:pPr lvl="2">
              <a:buNone/>
            </a:pPr>
            <a:r>
              <a:rPr lang="en-US" sz="2200" dirty="0" err="1"/>
              <a:t>myArray</a:t>
            </a:r>
            <a:r>
              <a:rPr lang="en-US" sz="2200" dirty="0"/>
              <a:t>[1] = 222;</a:t>
            </a:r>
          </a:p>
          <a:p>
            <a:pPr lvl="2">
              <a:buNone/>
            </a:pPr>
            <a:r>
              <a:rPr lang="en-US" sz="2200" dirty="0" err="1"/>
              <a:t>myArray</a:t>
            </a:r>
            <a:r>
              <a:rPr lang="en-US" sz="2200" dirty="0"/>
              <a:t>[2] = false;</a:t>
            </a:r>
          </a:p>
          <a:p>
            <a:pPr lvl="1"/>
            <a:r>
              <a:rPr lang="en-US" sz="2200" dirty="0" err="1"/>
              <a:t>var</a:t>
            </a:r>
            <a:r>
              <a:rPr lang="en-US" sz="2200" dirty="0"/>
              <a:t> </a:t>
            </a:r>
            <a:r>
              <a:rPr lang="en-US" sz="2200" dirty="0" err="1"/>
              <a:t>myArray</a:t>
            </a:r>
            <a:r>
              <a:rPr lang="en-US" sz="2200" dirty="0"/>
              <a:t> = new Array(“</a:t>
            </a:r>
            <a:r>
              <a:rPr lang="en-US" sz="2200" dirty="0" err="1"/>
              <a:t>darshan</a:t>
            </a:r>
            <a:r>
              <a:rPr lang="en-US" sz="2200" dirty="0"/>
              <a:t>” , 123 , true);</a:t>
            </a:r>
          </a:p>
          <a:p>
            <a:pPr lvl="1"/>
            <a:r>
              <a:rPr lang="en-US" sz="2200" dirty="0" err="1"/>
              <a:t>var</a:t>
            </a:r>
            <a:r>
              <a:rPr lang="en-US" sz="2200" dirty="0"/>
              <a:t> </a:t>
            </a:r>
            <a:r>
              <a:rPr lang="en-US" sz="2200" dirty="0" err="1"/>
              <a:t>myArray</a:t>
            </a:r>
            <a:r>
              <a:rPr lang="en-US" sz="2200" dirty="0"/>
              <a:t> = [“</a:t>
            </a:r>
            <a:r>
              <a:rPr lang="en-US" sz="2200" dirty="0" err="1"/>
              <a:t>darshan</a:t>
            </a:r>
            <a:r>
              <a:rPr lang="en-US" sz="2200" dirty="0"/>
              <a:t>” , 123 , true];</a:t>
            </a:r>
          </a:p>
          <a:p>
            <a:r>
              <a:rPr lang="en-US" dirty="0"/>
              <a:t>We can also use loop through an array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615403" y="1116188"/>
            <a:ext cx="5243805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</a:rPr>
              <a:t>Code</a:t>
            </a:r>
          </a:p>
          <a:p>
            <a:r>
              <a:rPr lang="en-US" sz="2200" dirty="0"/>
              <a:t>&lt;script type="text/</a:t>
            </a:r>
            <a:r>
              <a:rPr lang="en-US" sz="2200" dirty="0" err="1"/>
              <a:t>javascript</a:t>
            </a:r>
            <a:r>
              <a:rPr lang="en-US" sz="2200" dirty="0"/>
              <a:t>"&gt;</a:t>
            </a:r>
          </a:p>
          <a:p>
            <a:pPr lvl="1"/>
            <a:r>
              <a:rPr lang="en-US" sz="2200" dirty="0"/>
              <a:t>const courses= [“</a:t>
            </a:r>
            <a:r>
              <a:rPr lang="en-US" sz="2200" dirty="0" err="1"/>
              <a:t>Btech</a:t>
            </a:r>
            <a:r>
              <a:rPr lang="en-US" sz="2200" dirty="0"/>
              <a:t>", ”</a:t>
            </a:r>
            <a:r>
              <a:rPr lang="en-US" sz="2200" dirty="0" err="1"/>
              <a:t>Mtech</a:t>
            </a:r>
            <a:r>
              <a:rPr lang="en-US" sz="2200" dirty="0"/>
              <a:t>", ”BCA", ”</a:t>
            </a:r>
            <a:r>
              <a:rPr lang="en-US" sz="2200" dirty="0" err="1"/>
              <a:t>BScIT</a:t>
            </a:r>
            <a:r>
              <a:rPr lang="en-US" sz="2200" dirty="0"/>
              <a:t>“, “MCA”];</a:t>
            </a:r>
            <a:br>
              <a:rPr lang="en-US" sz="2200" dirty="0"/>
            </a:br>
            <a:r>
              <a:rPr lang="en-US" sz="2200" dirty="0"/>
              <a:t>let </a:t>
            </a:r>
            <a:r>
              <a:rPr lang="en-US" sz="2200" dirty="0" err="1"/>
              <a:t>cLen</a:t>
            </a:r>
            <a:r>
              <a:rPr lang="en-US" sz="2200" dirty="0"/>
              <a:t> = </a:t>
            </a:r>
            <a:r>
              <a:rPr lang="en-US" sz="2200" dirty="0" err="1"/>
              <a:t>courses.length</a:t>
            </a:r>
            <a:r>
              <a:rPr lang="en-US" sz="2200" dirty="0"/>
              <a:t>;</a:t>
            </a:r>
            <a:br>
              <a:rPr lang="en-US" sz="2200" dirty="0"/>
            </a:br>
            <a:r>
              <a:rPr lang="en-US" sz="2200" dirty="0"/>
              <a:t>for (let </a:t>
            </a:r>
            <a:r>
              <a:rPr lang="en-US" sz="2200" dirty="0" err="1"/>
              <a:t>i</a:t>
            </a:r>
            <a:r>
              <a:rPr lang="en-US" sz="2200" dirty="0"/>
              <a:t> = 0; </a:t>
            </a:r>
            <a:r>
              <a:rPr lang="en-US" sz="2200" dirty="0" err="1"/>
              <a:t>i</a:t>
            </a:r>
            <a:r>
              <a:rPr lang="en-US" sz="2200" dirty="0"/>
              <a:t> &lt; </a:t>
            </a:r>
            <a:r>
              <a:rPr lang="en-US" sz="2200" dirty="0" err="1"/>
              <a:t>cLen</a:t>
            </a:r>
            <a:r>
              <a:rPr lang="en-US" sz="2200" dirty="0"/>
              <a:t>; </a:t>
            </a:r>
            <a:r>
              <a:rPr lang="en-US" sz="2200" dirty="0" err="1"/>
              <a:t>i</a:t>
            </a:r>
            <a:r>
              <a:rPr lang="en-US" sz="2200" dirty="0"/>
              <a:t>++) {</a:t>
            </a:r>
            <a:br>
              <a:rPr lang="en-US" sz="2200" dirty="0"/>
            </a:br>
            <a:r>
              <a:rPr lang="en-US" sz="2200" dirty="0"/>
              <a:t>  console.log(courses[</a:t>
            </a:r>
            <a:r>
              <a:rPr lang="en-US" sz="2200" dirty="0" err="1"/>
              <a:t>i</a:t>
            </a:r>
            <a:r>
              <a:rPr lang="en-US" sz="2200" dirty="0"/>
              <a:t>]); </a:t>
            </a:r>
            <a:br>
              <a:rPr lang="en-US" sz="2200" dirty="0"/>
            </a:br>
            <a:r>
              <a:rPr lang="en-US" sz="2200" dirty="0"/>
              <a:t>}</a:t>
            </a:r>
          </a:p>
          <a:p>
            <a:r>
              <a:rPr lang="en-US" sz="22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9914540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Array Properties and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Array.length</a:t>
            </a:r>
            <a:r>
              <a:rPr lang="en-US" dirty="0"/>
              <a:t> – determines </a:t>
            </a:r>
            <a:r>
              <a:rPr lang="en-US" dirty="0">
                <a:solidFill>
                  <a:srgbClr val="C00000"/>
                </a:solidFill>
              </a:rPr>
              <a:t>number of element </a:t>
            </a:r>
            <a:r>
              <a:rPr lang="en-US" dirty="0"/>
              <a:t>in an array.</a:t>
            </a:r>
          </a:p>
          <a:p>
            <a:r>
              <a:rPr lang="en-US" dirty="0" err="1"/>
              <a:t>Array.forEach</a:t>
            </a:r>
            <a:r>
              <a:rPr lang="en-US" dirty="0"/>
              <a:t>() method. - The </a:t>
            </a:r>
            <a:r>
              <a:rPr lang="en-US" dirty="0" err="1">
                <a:solidFill>
                  <a:srgbClr val="C00000"/>
                </a:solidFill>
              </a:rPr>
              <a:t>forEach</a:t>
            </a:r>
            <a:r>
              <a:rPr lang="en-US" dirty="0">
                <a:solidFill>
                  <a:srgbClr val="C00000"/>
                </a:solidFill>
              </a:rPr>
              <a:t>() method </a:t>
            </a:r>
            <a:r>
              <a:rPr lang="en-US" dirty="0"/>
              <a:t>calls a 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 for each element in an </a:t>
            </a:r>
            <a:r>
              <a:rPr lang="en-US" dirty="0">
                <a:solidFill>
                  <a:srgbClr val="C00000"/>
                </a:solidFill>
              </a:rPr>
              <a:t>array</a:t>
            </a:r>
            <a:r>
              <a:rPr lang="en-US" dirty="0"/>
              <a:t>. The </a:t>
            </a:r>
            <a:r>
              <a:rPr lang="en-US" dirty="0" err="1">
                <a:solidFill>
                  <a:srgbClr val="C00000"/>
                </a:solidFill>
              </a:rPr>
              <a:t>forEach</a:t>
            </a:r>
            <a:r>
              <a:rPr lang="en-US" dirty="0">
                <a:solidFill>
                  <a:srgbClr val="C00000"/>
                </a:solidFill>
              </a:rPr>
              <a:t>() method </a:t>
            </a:r>
            <a:r>
              <a:rPr lang="en-US" dirty="0"/>
              <a:t>is not executed for empty elements.</a:t>
            </a:r>
          </a:p>
          <a:p>
            <a:r>
              <a:rPr lang="en-US" dirty="0" err="1"/>
              <a:t>Array.toString</a:t>
            </a:r>
            <a:r>
              <a:rPr lang="en-US" dirty="0"/>
              <a:t>() – Convert </a:t>
            </a:r>
            <a:r>
              <a:rPr lang="en-US" dirty="0">
                <a:solidFill>
                  <a:srgbClr val="C00000"/>
                </a:solidFill>
              </a:rPr>
              <a:t>array to string</a:t>
            </a:r>
            <a:r>
              <a:rPr lang="en-US" dirty="0"/>
              <a:t> of comma separated values.</a:t>
            </a:r>
          </a:p>
          <a:p>
            <a:r>
              <a:rPr lang="en-US" dirty="0" err="1"/>
              <a:t>Array.join</a:t>
            </a:r>
            <a:r>
              <a:rPr lang="en-US" dirty="0"/>
              <a:t>(“separator”) – It joins all </a:t>
            </a:r>
            <a:r>
              <a:rPr lang="en-US" dirty="0">
                <a:solidFill>
                  <a:srgbClr val="C00000"/>
                </a:solidFill>
              </a:rPr>
              <a:t>array elements </a:t>
            </a:r>
            <a:r>
              <a:rPr lang="en-US" dirty="0"/>
              <a:t>into a </a:t>
            </a:r>
            <a:r>
              <a:rPr lang="en-US" dirty="0">
                <a:solidFill>
                  <a:srgbClr val="C00000"/>
                </a:solidFill>
              </a:rPr>
              <a:t>string</a:t>
            </a:r>
            <a:r>
              <a:rPr lang="en-US" dirty="0"/>
              <a:t> with </a:t>
            </a:r>
            <a:r>
              <a:rPr lang="en-US" dirty="0">
                <a:solidFill>
                  <a:srgbClr val="C00000"/>
                </a:solidFill>
              </a:rPr>
              <a:t>separator</a:t>
            </a:r>
            <a:r>
              <a:rPr lang="en-US" dirty="0"/>
              <a:t> specified in parameter.</a:t>
            </a:r>
          </a:p>
          <a:p>
            <a:r>
              <a:rPr lang="en-US" dirty="0" err="1"/>
              <a:t>Array.concat</a:t>
            </a:r>
            <a:r>
              <a:rPr lang="en-US" dirty="0"/>
              <a:t>() Method.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5183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01FF-634F-AB31-EE81-0BA4D5947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4A2C-F4A9-23B9-DC9B-18CA9CFB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Array Properties and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D09C6-A99E-55FD-7712-BA0775394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2BC4A-8D32-1806-57F8-2C78C3EEFC7E}"/>
              </a:ext>
            </a:extLst>
          </p:cNvPr>
          <p:cNvSpPr txBox="1"/>
          <p:nvPr/>
        </p:nvSpPr>
        <p:spPr>
          <a:xfrm>
            <a:off x="343467" y="1245371"/>
            <a:ext cx="5931211" cy="3816429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</a:rPr>
              <a:t>Code</a:t>
            </a:r>
          </a:p>
          <a:p>
            <a:r>
              <a:rPr lang="en-US" sz="2200" dirty="0"/>
              <a:t>&lt;script type="text/</a:t>
            </a:r>
            <a:r>
              <a:rPr lang="en-US" sz="2200" dirty="0" err="1"/>
              <a:t>javascript</a:t>
            </a:r>
            <a:r>
              <a:rPr lang="en-US" sz="2200" dirty="0"/>
              <a:t>"&gt;</a:t>
            </a:r>
          </a:p>
          <a:p>
            <a:pPr lvl="1"/>
            <a:r>
              <a:rPr lang="en-US" sz="2200" dirty="0"/>
              <a:t>const courses= ["</a:t>
            </a:r>
            <a:r>
              <a:rPr lang="en-US" sz="2200" dirty="0" err="1"/>
              <a:t>Btech</a:t>
            </a:r>
            <a:r>
              <a:rPr lang="en-US" sz="2200" dirty="0"/>
              <a:t>", "</a:t>
            </a:r>
            <a:r>
              <a:rPr lang="en-US" sz="2200" dirty="0" err="1"/>
              <a:t>Mtech</a:t>
            </a:r>
            <a:r>
              <a:rPr lang="en-US" sz="2200" dirty="0"/>
              <a:t>", "BCA", "</a:t>
            </a:r>
            <a:r>
              <a:rPr lang="en-US" sz="2200" dirty="0" err="1"/>
              <a:t>BScIT</a:t>
            </a:r>
            <a:r>
              <a:rPr lang="en-US" sz="2200" dirty="0"/>
              <a:t>", "MCA"];</a:t>
            </a:r>
          </a:p>
          <a:p>
            <a:r>
              <a:rPr lang="en-US" sz="2200" dirty="0"/>
              <a:t>		</a:t>
            </a:r>
          </a:p>
          <a:p>
            <a:pPr lvl="1"/>
            <a:r>
              <a:rPr lang="en-US" sz="2200" dirty="0" err="1"/>
              <a:t>courses.forEach</a:t>
            </a:r>
            <a:r>
              <a:rPr lang="en-US" sz="2200" dirty="0"/>
              <a:t>(</a:t>
            </a:r>
            <a:r>
              <a:rPr lang="en-US" sz="2200" dirty="0" err="1"/>
              <a:t>myfunction</a:t>
            </a:r>
            <a:r>
              <a:rPr lang="en-US" sz="2200" dirty="0"/>
              <a:t>);</a:t>
            </a:r>
          </a:p>
          <a:p>
            <a:endParaRPr lang="en-US" sz="2200" dirty="0"/>
          </a:p>
          <a:p>
            <a:pPr lvl="1"/>
            <a:r>
              <a:rPr lang="en-US" sz="2200" dirty="0"/>
              <a:t>function </a:t>
            </a:r>
            <a:r>
              <a:rPr lang="en-US" sz="2200" dirty="0" err="1"/>
              <a:t>myfunction</a:t>
            </a:r>
            <a:r>
              <a:rPr lang="en-US" sz="2200" dirty="0"/>
              <a:t>(values, index, array){</a:t>
            </a:r>
          </a:p>
          <a:p>
            <a:pPr lvl="2"/>
            <a:r>
              <a:rPr lang="en-US" sz="2200" dirty="0"/>
              <a:t>console.log(values);</a:t>
            </a:r>
          </a:p>
          <a:p>
            <a:pPr lvl="1"/>
            <a:r>
              <a:rPr lang="en-US" sz="2200" dirty="0"/>
              <a:t>}</a:t>
            </a:r>
          </a:p>
          <a:p>
            <a:r>
              <a:rPr lang="en-US" sz="2200" dirty="0"/>
              <a:t>&lt;/script&gt;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56083-EF6F-C2CF-E034-AEC9716E8E82}"/>
              </a:ext>
            </a:extLst>
          </p:cNvPr>
          <p:cNvSpPr txBox="1"/>
          <p:nvPr/>
        </p:nvSpPr>
        <p:spPr>
          <a:xfrm>
            <a:off x="6602376" y="1219096"/>
            <a:ext cx="3903893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</a:rPr>
              <a:t>Code</a:t>
            </a:r>
          </a:p>
          <a:p>
            <a:r>
              <a:rPr lang="en-US" sz="2200" dirty="0"/>
              <a:t>&lt;script type="text/</a:t>
            </a:r>
            <a:r>
              <a:rPr lang="en-US" sz="2200" dirty="0" err="1"/>
              <a:t>javascript</a:t>
            </a:r>
            <a:r>
              <a:rPr lang="en-US" sz="2200" dirty="0"/>
              <a:t>"&gt;</a:t>
            </a:r>
          </a:p>
          <a:p>
            <a:pPr lvl="1"/>
            <a:r>
              <a:rPr lang="en-US" sz="2200" dirty="0"/>
              <a:t>a1 = [10, 20, 30];</a:t>
            </a:r>
          </a:p>
          <a:p>
            <a:pPr lvl="1"/>
            <a:r>
              <a:rPr lang="en-US" sz="2200" dirty="0"/>
              <a:t>a2 = [40,50,60,70];</a:t>
            </a:r>
          </a:p>
          <a:p>
            <a:pPr lvl="1"/>
            <a:r>
              <a:rPr lang="en-US" sz="2200" dirty="0"/>
              <a:t>a3 = [80,90,100];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 err="1"/>
              <a:t>myNum</a:t>
            </a:r>
            <a:r>
              <a:rPr lang="en-US" sz="2200" dirty="0"/>
              <a:t> = a1.concat(a2, a3);</a:t>
            </a:r>
          </a:p>
          <a:p>
            <a:pPr lvl="1"/>
            <a:r>
              <a:rPr lang="en-US" sz="2200" dirty="0"/>
              <a:t>console.log(</a:t>
            </a:r>
            <a:r>
              <a:rPr lang="en-US" sz="2200" dirty="0" err="1"/>
              <a:t>myNum</a:t>
            </a:r>
            <a:r>
              <a:rPr lang="en-US" sz="2200" dirty="0"/>
              <a:t>);</a:t>
            </a:r>
          </a:p>
          <a:p>
            <a:r>
              <a:rPr lang="en-US" sz="22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3508154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Array Properties and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Array.push</a:t>
            </a:r>
            <a:r>
              <a:rPr lang="en-US" dirty="0"/>
              <a:t>() – </a:t>
            </a:r>
            <a:r>
              <a:rPr lang="en-US" dirty="0">
                <a:solidFill>
                  <a:srgbClr val="C00000"/>
                </a:solidFill>
              </a:rPr>
              <a:t>Add</a:t>
            </a:r>
            <a:r>
              <a:rPr lang="en-US" dirty="0"/>
              <a:t> an </a:t>
            </a:r>
            <a:r>
              <a:rPr lang="en-US" dirty="0">
                <a:solidFill>
                  <a:srgbClr val="C00000"/>
                </a:solidFill>
              </a:rPr>
              <a:t>element</a:t>
            </a:r>
            <a:r>
              <a:rPr lang="en-US" dirty="0"/>
              <a:t> at the </a:t>
            </a:r>
            <a:r>
              <a:rPr lang="en-US" dirty="0">
                <a:solidFill>
                  <a:srgbClr val="C00000"/>
                </a:solidFill>
              </a:rPr>
              <a:t>end</a:t>
            </a:r>
            <a:r>
              <a:rPr lang="en-US" dirty="0"/>
              <a:t> of an array.</a:t>
            </a:r>
          </a:p>
          <a:p>
            <a:r>
              <a:rPr lang="en-US" dirty="0"/>
              <a:t>Array.pop() – It </a:t>
            </a:r>
            <a:r>
              <a:rPr lang="en-US" dirty="0">
                <a:solidFill>
                  <a:srgbClr val="C00000"/>
                </a:solidFill>
              </a:rPr>
              <a:t>removes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last element </a:t>
            </a:r>
            <a:r>
              <a:rPr lang="en-US" dirty="0"/>
              <a:t>from an array.</a:t>
            </a:r>
          </a:p>
          <a:p>
            <a:r>
              <a:rPr lang="en-US" dirty="0" err="1"/>
              <a:t>Array.unshift</a:t>
            </a:r>
            <a:r>
              <a:rPr lang="en-US" dirty="0"/>
              <a:t>(Element) – </a:t>
            </a:r>
            <a:r>
              <a:rPr lang="en-US" dirty="0">
                <a:solidFill>
                  <a:srgbClr val="C00000"/>
                </a:solidFill>
              </a:rPr>
              <a:t>Add</a:t>
            </a:r>
            <a:r>
              <a:rPr lang="en-US" dirty="0"/>
              <a:t> an </a:t>
            </a:r>
            <a:r>
              <a:rPr lang="en-US" dirty="0">
                <a:solidFill>
                  <a:srgbClr val="C00000"/>
                </a:solidFill>
              </a:rPr>
              <a:t>element</a:t>
            </a:r>
            <a:r>
              <a:rPr lang="en-US" dirty="0"/>
              <a:t> at the </a:t>
            </a:r>
            <a:r>
              <a:rPr lang="en-US" dirty="0">
                <a:solidFill>
                  <a:srgbClr val="C00000"/>
                </a:solidFill>
              </a:rPr>
              <a:t>beginning</a:t>
            </a:r>
            <a:r>
              <a:rPr lang="en-US" dirty="0"/>
              <a:t> of an array</a:t>
            </a:r>
          </a:p>
          <a:p>
            <a:r>
              <a:rPr lang="en-US" dirty="0"/>
              <a:t>Array. shift() – </a:t>
            </a:r>
            <a:r>
              <a:rPr lang="en-US" dirty="0">
                <a:solidFill>
                  <a:srgbClr val="C00000"/>
                </a:solidFill>
              </a:rPr>
              <a:t>Removes</a:t>
            </a:r>
            <a:r>
              <a:rPr lang="en-US" dirty="0"/>
              <a:t> an </a:t>
            </a:r>
            <a:r>
              <a:rPr lang="en-US" dirty="0">
                <a:solidFill>
                  <a:srgbClr val="C00000"/>
                </a:solidFill>
              </a:rPr>
              <a:t>element</a:t>
            </a:r>
            <a:r>
              <a:rPr lang="en-US" dirty="0"/>
              <a:t> from the </a:t>
            </a:r>
            <a:r>
              <a:rPr lang="en-US" dirty="0">
                <a:solidFill>
                  <a:srgbClr val="C00000"/>
                </a:solidFill>
              </a:rPr>
              <a:t>beginning</a:t>
            </a:r>
            <a:r>
              <a:rPr lang="en-US" dirty="0"/>
              <a:t> of an array.</a:t>
            </a:r>
          </a:p>
          <a:p>
            <a:r>
              <a:rPr lang="en-US" dirty="0" err="1"/>
              <a:t>Array.splice</a:t>
            </a:r>
            <a:r>
              <a:rPr lang="en-US" dirty="0"/>
              <a:t>() – It is used to </a:t>
            </a:r>
            <a:r>
              <a:rPr lang="en-US" dirty="0">
                <a:solidFill>
                  <a:srgbClr val="C00000"/>
                </a:solidFill>
              </a:rPr>
              <a:t>add or delete </a:t>
            </a:r>
            <a:r>
              <a:rPr lang="en-US" dirty="0"/>
              <a:t>elements at </a:t>
            </a:r>
            <a:r>
              <a:rPr lang="en-US" dirty="0">
                <a:solidFill>
                  <a:srgbClr val="C00000"/>
                </a:solidFill>
              </a:rPr>
              <a:t>specified position</a:t>
            </a:r>
            <a:r>
              <a:rPr lang="en-US" dirty="0"/>
              <a:t>.</a:t>
            </a:r>
          </a:p>
          <a:p>
            <a:r>
              <a:rPr lang="en-US" dirty="0" err="1"/>
              <a:t>Array.slice</a:t>
            </a:r>
            <a:r>
              <a:rPr lang="en-US" dirty="0"/>
              <a:t>() – It </a:t>
            </a:r>
            <a:r>
              <a:rPr lang="en-US" dirty="0">
                <a:solidFill>
                  <a:srgbClr val="C00000"/>
                </a:solidFill>
              </a:rPr>
              <a:t>slices</a:t>
            </a:r>
            <a:r>
              <a:rPr lang="en-US" dirty="0"/>
              <a:t> out a piece of an </a:t>
            </a:r>
            <a:r>
              <a:rPr lang="en-US" dirty="0">
                <a:solidFill>
                  <a:srgbClr val="C00000"/>
                </a:solidFill>
              </a:rPr>
              <a:t>array</a:t>
            </a:r>
            <a:r>
              <a:rPr lang="en-US" dirty="0"/>
              <a:t> into a </a:t>
            </a:r>
            <a:r>
              <a:rPr lang="en-US" dirty="0">
                <a:solidFill>
                  <a:srgbClr val="C00000"/>
                </a:solidFill>
              </a:rPr>
              <a:t>new array</a:t>
            </a:r>
            <a:r>
              <a:rPr lang="en-US" dirty="0"/>
              <a:t>.</a:t>
            </a:r>
          </a:p>
          <a:p>
            <a:r>
              <a:rPr lang="en-US" dirty="0" err="1"/>
              <a:t>Array.sort</a:t>
            </a:r>
            <a:r>
              <a:rPr lang="en-US" dirty="0"/>
              <a:t>() – It sorts</a:t>
            </a:r>
            <a:r>
              <a:rPr lang="en-US" dirty="0">
                <a:solidFill>
                  <a:srgbClr val="C00000"/>
                </a:solidFill>
              </a:rPr>
              <a:t> alphabetically </a:t>
            </a: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ascending</a:t>
            </a:r>
            <a:r>
              <a:rPr lang="en-US" dirty="0"/>
              <a:t> order.</a:t>
            </a:r>
          </a:p>
          <a:p>
            <a:r>
              <a:rPr lang="en-US" dirty="0" err="1"/>
              <a:t>Array.sort</a:t>
            </a:r>
            <a:r>
              <a:rPr lang="en-US" dirty="0"/>
              <a:t>(function(a, b){return a - b}) – It sort </a:t>
            </a:r>
            <a:r>
              <a:rPr lang="en-US" dirty="0">
                <a:solidFill>
                  <a:srgbClr val="C00000"/>
                </a:solidFill>
              </a:rPr>
              <a:t>numerically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</a:rPr>
              <a:t>ascending</a:t>
            </a:r>
            <a:r>
              <a:rPr lang="en-US" dirty="0"/>
              <a:t> order.</a:t>
            </a:r>
          </a:p>
          <a:p>
            <a:r>
              <a:rPr lang="en-US" dirty="0" err="1"/>
              <a:t>Array.reverse</a:t>
            </a:r>
            <a:r>
              <a:rPr lang="en-US" dirty="0"/>
              <a:t>() – It </a:t>
            </a:r>
            <a:r>
              <a:rPr lang="en-US" dirty="0">
                <a:solidFill>
                  <a:srgbClr val="C00000"/>
                </a:solidFill>
              </a:rPr>
              <a:t>reverse</a:t>
            </a:r>
            <a:r>
              <a:rPr lang="en-US" dirty="0"/>
              <a:t> array </a:t>
            </a:r>
            <a:r>
              <a:rPr lang="en-US" dirty="0">
                <a:solidFill>
                  <a:srgbClr val="C00000"/>
                </a:solidFill>
              </a:rPr>
              <a:t>elements</a:t>
            </a:r>
            <a:r>
              <a:rPr lang="en-US" dirty="0"/>
              <a:t>.</a:t>
            </a:r>
          </a:p>
          <a:p>
            <a:r>
              <a:rPr lang="en-US" dirty="0"/>
              <a:t>Finding Max and Min of an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9741" y="5344514"/>
            <a:ext cx="3666231" cy="1200329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</a:p>
          <a:p>
            <a:r>
              <a:rPr lang="en-US" dirty="0"/>
              <a:t>function </a:t>
            </a:r>
            <a:r>
              <a:rPr lang="en-US" dirty="0" err="1"/>
              <a:t>arrayMax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 {</a:t>
            </a:r>
          </a:p>
          <a:p>
            <a:pPr lvl="1"/>
            <a:r>
              <a:rPr lang="en-US" dirty="0"/>
              <a:t>return </a:t>
            </a:r>
            <a:r>
              <a:rPr lang="en-US" dirty="0" err="1"/>
              <a:t>Math.max.apply</a:t>
            </a:r>
            <a:r>
              <a:rPr lang="en-US" dirty="0"/>
              <a:t>(null, </a:t>
            </a:r>
            <a:r>
              <a:rPr lang="en-US" dirty="0" err="1"/>
              <a:t>arr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3010" y="5328749"/>
            <a:ext cx="3666231" cy="1200329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</a:p>
          <a:p>
            <a:r>
              <a:rPr lang="en-US" dirty="0"/>
              <a:t>function </a:t>
            </a:r>
            <a:r>
              <a:rPr lang="en-US" dirty="0" err="1"/>
              <a:t>arrayMin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 {</a:t>
            </a:r>
          </a:p>
          <a:p>
            <a:pPr lvl="1"/>
            <a:r>
              <a:rPr lang="en-US" dirty="0"/>
              <a:t>return </a:t>
            </a:r>
            <a:r>
              <a:rPr lang="en-US" dirty="0" err="1"/>
              <a:t>Math.min.apply</a:t>
            </a:r>
            <a:r>
              <a:rPr lang="en-US" dirty="0"/>
              <a:t>(null, </a:t>
            </a:r>
            <a:r>
              <a:rPr lang="en-US" dirty="0" err="1"/>
              <a:t>arr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2796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Array Properties and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r>
              <a:rPr lang="en-US" dirty="0"/>
              <a:t>Array.map() method.</a:t>
            </a:r>
          </a:p>
          <a:p>
            <a:r>
              <a:rPr lang="en-US" dirty="0" err="1"/>
              <a:t>Array.filter</a:t>
            </a:r>
            <a:r>
              <a:rPr lang="en-US" dirty="0"/>
              <a:t>() method.</a:t>
            </a:r>
          </a:p>
          <a:p>
            <a:r>
              <a:rPr lang="en-US" dirty="0" err="1"/>
              <a:t>Array.reduce</a:t>
            </a:r>
            <a:r>
              <a:rPr lang="en-US" dirty="0"/>
              <a:t>() method.</a:t>
            </a:r>
          </a:p>
          <a:p>
            <a:r>
              <a:rPr lang="en-US" dirty="0" err="1"/>
              <a:t>Array.reduceRight</a:t>
            </a:r>
            <a:r>
              <a:rPr lang="en-US" dirty="0"/>
              <a:t>() method.</a:t>
            </a:r>
          </a:p>
          <a:p>
            <a:r>
              <a:rPr lang="en-US" dirty="0" err="1"/>
              <a:t>Array.every</a:t>
            </a:r>
            <a:r>
              <a:rPr lang="en-US" dirty="0"/>
              <a:t>() method.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58265" y="3358063"/>
            <a:ext cx="4076135" cy="2893100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Code</a:t>
            </a:r>
          </a:p>
          <a:p>
            <a:r>
              <a:rPr lang="en-US" sz="1600" dirty="0"/>
              <a:t>&lt;script type="text/</a:t>
            </a:r>
            <a:r>
              <a:rPr lang="en-US" sz="1600" dirty="0" err="1"/>
              <a:t>javascript</a:t>
            </a:r>
            <a:r>
              <a:rPr lang="en-US" sz="1600" dirty="0"/>
              <a:t>"&gt;</a:t>
            </a:r>
          </a:p>
          <a:p>
            <a:pPr lvl="1"/>
            <a:r>
              <a:rPr lang="en-US" sz="1600" dirty="0"/>
              <a:t>numbers1 = [2, 4, 7, 1, 5];</a:t>
            </a:r>
          </a:p>
          <a:p>
            <a:pPr lvl="1"/>
            <a:r>
              <a:rPr lang="en-US" sz="1600" dirty="0"/>
              <a:t>numbers2 = numbers1.filter(</a:t>
            </a:r>
            <a:r>
              <a:rPr lang="en-US" sz="1600" dirty="0" err="1"/>
              <a:t>myFunction</a:t>
            </a:r>
            <a:r>
              <a:rPr lang="en-US" sz="1600" dirty="0"/>
              <a:t>);</a:t>
            </a:r>
          </a:p>
          <a:p>
            <a:endParaRPr lang="en-US" sz="1600" dirty="0"/>
          </a:p>
          <a:p>
            <a:pPr lvl="1"/>
            <a:r>
              <a:rPr lang="en-US" sz="1600" dirty="0"/>
              <a:t>console.log(numbers2);</a:t>
            </a:r>
          </a:p>
          <a:p>
            <a:endParaRPr lang="en-US" sz="1600" dirty="0"/>
          </a:p>
          <a:p>
            <a:pPr lvl="1"/>
            <a:r>
              <a:rPr lang="en-US" sz="1600" dirty="0"/>
              <a:t>function </a:t>
            </a:r>
            <a:r>
              <a:rPr lang="en-US" sz="1600" dirty="0" err="1"/>
              <a:t>myFunction</a:t>
            </a:r>
            <a:r>
              <a:rPr lang="en-US" sz="1600" dirty="0"/>
              <a:t>(value, index, array) {</a:t>
            </a:r>
          </a:p>
          <a:p>
            <a:pPr lvl="2"/>
            <a:r>
              <a:rPr lang="en-US" sz="1600" dirty="0"/>
              <a:t>return value &gt; 3;</a:t>
            </a:r>
          </a:p>
          <a:p>
            <a:pPr lvl="1"/>
            <a:r>
              <a:rPr lang="en-US" sz="1600" dirty="0"/>
              <a:t>}</a:t>
            </a:r>
          </a:p>
          <a:p>
            <a:r>
              <a:rPr lang="en-US" sz="1600" dirty="0"/>
              <a:t>&lt;/script&gt;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852" y="3352810"/>
            <a:ext cx="4102410" cy="2893100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Code</a:t>
            </a:r>
          </a:p>
          <a:p>
            <a:r>
              <a:rPr lang="en-US" sz="1600" dirty="0"/>
              <a:t>&lt;script type="text/</a:t>
            </a:r>
            <a:r>
              <a:rPr lang="en-US" sz="1600" dirty="0" err="1"/>
              <a:t>javascript</a:t>
            </a:r>
            <a:r>
              <a:rPr lang="en-US" sz="1600" dirty="0"/>
              <a:t>"&gt;</a:t>
            </a:r>
          </a:p>
          <a:p>
            <a:pPr lvl="1"/>
            <a:r>
              <a:rPr lang="en-US" sz="1600" dirty="0"/>
              <a:t>numbers1 = [2, 4, 7, 1, 5];</a:t>
            </a:r>
          </a:p>
          <a:p>
            <a:pPr lvl="1"/>
            <a:r>
              <a:rPr lang="en-US" sz="1600" dirty="0"/>
              <a:t>numbers2 = numbers1.map(</a:t>
            </a:r>
            <a:r>
              <a:rPr lang="en-US" sz="1600" dirty="0" err="1"/>
              <a:t>myFunction</a:t>
            </a:r>
            <a:r>
              <a:rPr lang="en-US" sz="1600" dirty="0"/>
              <a:t>);</a:t>
            </a:r>
          </a:p>
          <a:p>
            <a:endParaRPr lang="en-US" sz="1600" dirty="0"/>
          </a:p>
          <a:p>
            <a:pPr lvl="1"/>
            <a:r>
              <a:rPr lang="en-US" sz="1600" dirty="0"/>
              <a:t>console.log(numbers2);</a:t>
            </a:r>
          </a:p>
          <a:p>
            <a:endParaRPr lang="en-US" sz="1600" dirty="0"/>
          </a:p>
          <a:p>
            <a:pPr lvl="1"/>
            <a:r>
              <a:rPr lang="en-US" sz="1600" dirty="0"/>
              <a:t>function </a:t>
            </a:r>
            <a:r>
              <a:rPr lang="en-US" sz="1600" dirty="0" err="1"/>
              <a:t>myFunction</a:t>
            </a:r>
            <a:r>
              <a:rPr lang="en-US" sz="1600" dirty="0"/>
              <a:t>(value, index, array) {</a:t>
            </a:r>
          </a:p>
          <a:p>
            <a:pPr lvl="2"/>
            <a:r>
              <a:rPr lang="en-US" sz="1600" dirty="0"/>
              <a:t>return value * value;</a:t>
            </a:r>
          </a:p>
          <a:p>
            <a:pPr lvl="1"/>
            <a:r>
              <a:rPr lang="en-US" sz="1600" dirty="0"/>
              <a:t>}</a:t>
            </a:r>
          </a:p>
          <a:p>
            <a:r>
              <a:rPr lang="en-US" sz="1600" dirty="0"/>
              <a:t>&lt;/script&gt;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008619" y="847678"/>
            <a:ext cx="4162297" cy="1874501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Array.from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method (ES6).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Array.keys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method (ES6).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Array.entries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method (ES6).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Array.includes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method (ES6).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3946365" y="863445"/>
            <a:ext cx="4162297" cy="2279148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 err="1"/>
              <a:t>Array.some</a:t>
            </a:r>
            <a:r>
              <a:rPr lang="en-US" sz="2400" dirty="0"/>
              <a:t>() method.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Array.indexOf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method.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Array.lastIndexOf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method.</a:t>
            </a: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Array.find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 method.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US" sz="2400" dirty="0" err="1"/>
              <a:t>Array.findIndex</a:t>
            </a:r>
            <a:r>
              <a:rPr lang="en-US" sz="2400" dirty="0"/>
              <a:t>() method.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5113" marR="0" lvl="0" indent="-265113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Tx/>
              <a:buFont typeface="Wingdings 3" panose="05040102010807070707" pitchFamily="18" charset="2"/>
              <a:buChar char="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5557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Properties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map() </a:t>
            </a:r>
            <a:r>
              <a:rPr lang="en-US" dirty="0"/>
              <a:t>creates a new </a:t>
            </a:r>
            <a:r>
              <a:rPr lang="en-US" dirty="0">
                <a:solidFill>
                  <a:srgbClr val="C00000"/>
                </a:solidFill>
              </a:rPr>
              <a:t>array</a:t>
            </a:r>
            <a:r>
              <a:rPr lang="en-US" dirty="0"/>
              <a:t> from calling a 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 for every </a:t>
            </a:r>
            <a:r>
              <a:rPr lang="en-US" dirty="0">
                <a:solidFill>
                  <a:srgbClr val="C00000"/>
                </a:solidFill>
              </a:rPr>
              <a:t>array</a:t>
            </a:r>
            <a:r>
              <a:rPr lang="en-US" dirty="0"/>
              <a:t> element. </a:t>
            </a:r>
            <a:r>
              <a:rPr lang="en-US" dirty="0">
                <a:solidFill>
                  <a:srgbClr val="C00000"/>
                </a:solidFill>
              </a:rPr>
              <a:t>map() </a:t>
            </a:r>
            <a:r>
              <a:rPr lang="en-US" dirty="0"/>
              <a:t>does not execute the 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 for empty elements.</a:t>
            </a:r>
          </a:p>
          <a:p>
            <a:r>
              <a:rPr lang="en-US" dirty="0"/>
              <a:t>The </a:t>
            </a:r>
            <a:r>
              <a:rPr lang="en-US" dirty="0">
                <a:solidFill>
                  <a:srgbClr val="C00000"/>
                </a:solidFill>
              </a:rPr>
              <a:t>filter() method </a:t>
            </a:r>
            <a:r>
              <a:rPr lang="en-US" dirty="0"/>
              <a:t>creates a new </a:t>
            </a:r>
            <a:r>
              <a:rPr lang="en-US" dirty="0">
                <a:solidFill>
                  <a:srgbClr val="C00000"/>
                </a:solidFill>
              </a:rPr>
              <a:t>array</a:t>
            </a:r>
            <a:r>
              <a:rPr lang="en-US" dirty="0"/>
              <a:t> filled with elements that pass a test provided by a 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.</a:t>
            </a:r>
          </a:p>
          <a:p>
            <a:r>
              <a:rPr lang="en-US" dirty="0"/>
              <a:t>The </a:t>
            </a:r>
            <a:r>
              <a:rPr lang="en-US" dirty="0">
                <a:solidFill>
                  <a:srgbClr val="C00000"/>
                </a:solidFill>
              </a:rPr>
              <a:t>reduce() method </a:t>
            </a:r>
            <a:r>
              <a:rPr lang="en-US" dirty="0"/>
              <a:t>executes a reducer 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 for </a:t>
            </a:r>
            <a:r>
              <a:rPr lang="en-US" dirty="0">
                <a:solidFill>
                  <a:srgbClr val="C00000"/>
                </a:solidFill>
              </a:rPr>
              <a:t>array</a:t>
            </a:r>
            <a:r>
              <a:rPr lang="en-US" dirty="0"/>
              <a:t> element. The </a:t>
            </a:r>
            <a:r>
              <a:rPr lang="en-US" dirty="0">
                <a:solidFill>
                  <a:srgbClr val="C00000"/>
                </a:solidFill>
              </a:rPr>
              <a:t>reduce() method </a:t>
            </a:r>
            <a:r>
              <a:rPr lang="en-US" dirty="0"/>
              <a:t>returns a single value.</a:t>
            </a:r>
          </a:p>
          <a:p>
            <a:r>
              <a:rPr lang="en-US" dirty="0" err="1"/>
              <a:t>ECMAScript</a:t>
            </a:r>
            <a:r>
              <a:rPr lang="en-US" dirty="0"/>
              <a:t> 2015 was the second major revision to JavaScript.</a:t>
            </a:r>
          </a:p>
          <a:p>
            <a:r>
              <a:rPr lang="en-US" dirty="0" err="1"/>
              <a:t>ECMAScript</a:t>
            </a:r>
            <a:r>
              <a:rPr lang="en-US" dirty="0"/>
              <a:t> 2015 is also known as ES6 and </a:t>
            </a:r>
            <a:r>
              <a:rPr lang="en-US" dirty="0" err="1"/>
              <a:t>ECMAScript</a:t>
            </a:r>
            <a:r>
              <a:rPr lang="en-US" dirty="0"/>
              <a:t> 6.</a:t>
            </a:r>
          </a:p>
          <a:p>
            <a:r>
              <a:rPr lang="en-US" dirty="0"/>
              <a:t>ES6 is supported by safari 10, Edge 14, etc.. Browsers.</a:t>
            </a:r>
          </a:p>
          <a:p>
            <a:r>
              <a:rPr lang="en-US" dirty="0"/>
              <a:t>Let, </a:t>
            </a:r>
            <a:r>
              <a:rPr lang="en-US" dirty="0" err="1"/>
              <a:t>Const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 are the examples of ES6</a:t>
            </a:r>
          </a:p>
        </p:txBody>
      </p:sp>
    </p:spTree>
    <p:extLst>
      <p:ext uri="{BB962C8B-B14F-4D97-AF65-F5344CB8AC3E}">
        <p14:creationId xmlns:p14="http://schemas.microsoft.com/office/powerpoint/2010/main" val="19882227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5205929" cy="5590565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object</a:t>
            </a:r>
            <a:r>
              <a:rPr lang="en-US" dirty="0"/>
              <a:t> is just a special kind of </a:t>
            </a:r>
            <a:r>
              <a:rPr lang="en-US" dirty="0">
                <a:solidFill>
                  <a:srgbClr val="C00000"/>
                </a:solidFill>
              </a:rPr>
              <a:t>data with properties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methods</a:t>
            </a:r>
            <a:r>
              <a:rPr lang="en-US" dirty="0"/>
              <a:t>.</a:t>
            </a:r>
          </a:p>
          <a:p>
            <a:r>
              <a:rPr lang="en-US" dirty="0"/>
              <a:t>Accessing Object Properties</a:t>
            </a:r>
          </a:p>
          <a:p>
            <a:pPr lvl="1"/>
            <a:r>
              <a:rPr lang="en-US" sz="2200" dirty="0"/>
              <a:t>Properties are the values associated with an object.</a:t>
            </a:r>
          </a:p>
          <a:p>
            <a:pPr lvl="1"/>
            <a:r>
              <a:rPr lang="en-US" sz="2200" dirty="0"/>
              <a:t>The syntax for accessing the property of an object is below</a:t>
            </a:r>
          </a:p>
          <a:p>
            <a:pPr lvl="2">
              <a:buNone/>
            </a:pPr>
            <a:r>
              <a:rPr lang="en-US" sz="2200" i="1" dirty="0"/>
              <a:t>	</a:t>
            </a:r>
            <a:r>
              <a:rPr lang="en-US" sz="2200" i="1" dirty="0" err="1">
                <a:solidFill>
                  <a:srgbClr val="C00000"/>
                </a:solidFill>
              </a:rPr>
              <a:t>objectName.propertyName</a:t>
            </a:r>
            <a:endParaRPr lang="en-US" sz="2200" i="1" dirty="0">
              <a:solidFill>
                <a:srgbClr val="C00000"/>
              </a:solidFill>
            </a:endParaRPr>
          </a:p>
          <a:p>
            <a:pPr lvl="1"/>
            <a:r>
              <a:rPr lang="en-US" sz="2200" dirty="0"/>
              <a:t>This example uses the length property of the </a:t>
            </a:r>
            <a:r>
              <a:rPr lang="en-US" sz="2200" dirty="0" err="1"/>
              <a:t>Javascript’s</a:t>
            </a:r>
            <a:r>
              <a:rPr lang="en-US" sz="2200" dirty="0"/>
              <a:t> inbuilt object(String) to find the length of a string:</a:t>
            </a:r>
          </a:p>
          <a:p>
            <a:pPr lvl="2" algn="l">
              <a:buNone/>
            </a:pPr>
            <a:r>
              <a:rPr lang="en-US" sz="2200" i="1" dirty="0"/>
              <a:t>	</a:t>
            </a:r>
            <a:r>
              <a:rPr lang="en-US" sz="2200" i="1" dirty="0">
                <a:solidFill>
                  <a:srgbClr val="C00000"/>
                </a:solidFill>
              </a:rPr>
              <a:t>var message="Hello World!";</a:t>
            </a:r>
            <a:br>
              <a:rPr lang="en-US" sz="2200" i="1" dirty="0">
                <a:solidFill>
                  <a:srgbClr val="C00000"/>
                </a:solidFill>
              </a:rPr>
            </a:br>
            <a:r>
              <a:rPr lang="en-US" sz="2200" i="1" dirty="0">
                <a:solidFill>
                  <a:srgbClr val="C00000"/>
                </a:solidFill>
              </a:rPr>
              <a:t>var x=</a:t>
            </a:r>
            <a:r>
              <a:rPr lang="en-US" sz="2200" i="1" dirty="0" err="1">
                <a:solidFill>
                  <a:srgbClr val="C00000"/>
                </a:solidFill>
              </a:rPr>
              <a:t>message.length</a:t>
            </a:r>
            <a:r>
              <a:rPr lang="en-US" sz="2200" i="1" dirty="0">
                <a:solidFill>
                  <a:srgbClr val="C00000"/>
                </a:solidFill>
              </a:rPr>
              <a:t>;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5A17D5-8954-A290-AB62-7760F758E1FA}"/>
              </a:ext>
            </a:extLst>
          </p:cNvPr>
          <p:cNvSpPr txBox="1">
            <a:spLocks/>
          </p:cNvSpPr>
          <p:nvPr/>
        </p:nvSpPr>
        <p:spPr>
          <a:xfrm>
            <a:off x="6397688" y="863444"/>
            <a:ext cx="5498839" cy="38858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Accessing Object Methods</a:t>
            </a:r>
          </a:p>
          <a:p>
            <a:pPr lvl="1"/>
            <a:r>
              <a:rPr lang="en-US" sz="2200" dirty="0"/>
              <a:t>Methods are the actions that can be performed on objects.</a:t>
            </a:r>
          </a:p>
          <a:p>
            <a:pPr lvl="1" algn="l"/>
            <a:r>
              <a:rPr lang="en-US" sz="2200" dirty="0"/>
              <a:t>You can call a method with the following syntax.</a:t>
            </a:r>
            <a:r>
              <a:rPr lang="en-US" sz="2200" i="1" dirty="0"/>
              <a:t>	</a:t>
            </a:r>
          </a:p>
          <a:p>
            <a:pPr marL="457200" lvl="1" indent="0" algn="l">
              <a:buNone/>
            </a:pPr>
            <a:r>
              <a:rPr lang="en-US" sz="2200" i="1" dirty="0">
                <a:solidFill>
                  <a:srgbClr val="C00000"/>
                </a:solidFill>
              </a:rPr>
              <a:t>	    </a:t>
            </a:r>
            <a:r>
              <a:rPr lang="en-US" sz="2200" i="1" dirty="0" err="1">
                <a:solidFill>
                  <a:srgbClr val="C00000"/>
                </a:solidFill>
              </a:rPr>
              <a:t>objectName.methodName</a:t>
            </a:r>
            <a:r>
              <a:rPr lang="en-US" sz="2200" i="1" dirty="0">
                <a:solidFill>
                  <a:srgbClr val="C00000"/>
                </a:solidFill>
              </a:rPr>
              <a:t>()</a:t>
            </a:r>
          </a:p>
          <a:p>
            <a:pPr lvl="1"/>
            <a:r>
              <a:rPr lang="en-US" sz="2200" dirty="0"/>
              <a:t>This example uses the </a:t>
            </a:r>
            <a:r>
              <a:rPr lang="en-US" sz="2200" dirty="0" err="1"/>
              <a:t>toUpperCase</a:t>
            </a:r>
            <a:r>
              <a:rPr lang="en-US" sz="2200" dirty="0"/>
              <a:t> method of the String object to convert string to upper case:</a:t>
            </a:r>
          </a:p>
          <a:p>
            <a:pPr lvl="2" algn="l">
              <a:buFont typeface="Wingdings" panose="05000000000000000000" pitchFamily="2" charset="2"/>
              <a:buNone/>
            </a:pPr>
            <a:r>
              <a:rPr lang="en-US" sz="2200" i="1" dirty="0"/>
              <a:t>	</a:t>
            </a:r>
            <a:r>
              <a:rPr lang="en-US" sz="2200" i="1" dirty="0">
                <a:solidFill>
                  <a:srgbClr val="C00000"/>
                </a:solidFill>
              </a:rPr>
              <a:t>var message="Hello World!";</a:t>
            </a:r>
            <a:br>
              <a:rPr lang="en-US" sz="2200" i="1" dirty="0">
                <a:solidFill>
                  <a:srgbClr val="C00000"/>
                </a:solidFill>
              </a:rPr>
            </a:br>
            <a:r>
              <a:rPr lang="en-US" sz="2200" i="1" dirty="0">
                <a:solidFill>
                  <a:srgbClr val="C00000"/>
                </a:solidFill>
              </a:rPr>
              <a:t>var x=</a:t>
            </a:r>
            <a:r>
              <a:rPr lang="en-US" sz="2200" i="1" dirty="0" err="1">
                <a:solidFill>
                  <a:srgbClr val="C00000"/>
                </a:solidFill>
              </a:rPr>
              <a:t>message.toUpperCase</a:t>
            </a:r>
            <a:r>
              <a:rPr lang="en-US" sz="2200" i="1" dirty="0">
                <a:solidFill>
                  <a:srgbClr val="C00000"/>
                </a:solidFill>
              </a:rPr>
              <a:t>();</a:t>
            </a:r>
            <a:endParaRPr lang="en-US" sz="2200" dirty="0">
              <a:solidFill>
                <a:srgbClr val="C00000"/>
              </a:solidFill>
            </a:endParaRPr>
          </a:p>
          <a:p>
            <a:pPr lvl="2"/>
            <a:endParaRPr lang="en-US" sz="2200" dirty="0"/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1640DE-8F10-9908-2499-552AB9570B0B}"/>
              </a:ext>
            </a:extLst>
          </p:cNvPr>
          <p:cNvCxnSpPr/>
          <p:nvPr/>
        </p:nvCxnSpPr>
        <p:spPr>
          <a:xfrm>
            <a:off x="6008150" y="862834"/>
            <a:ext cx="0" cy="559117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60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JavaScript’s inbuilt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comes with some inbuilt objects which are,</a:t>
            </a:r>
          </a:p>
          <a:p>
            <a:pPr lvl="1"/>
            <a:r>
              <a:rPr lang="en-US" sz="2200" dirty="0"/>
              <a:t>String</a:t>
            </a:r>
          </a:p>
          <a:p>
            <a:pPr lvl="1"/>
            <a:r>
              <a:rPr lang="en-US" sz="2200" dirty="0"/>
              <a:t>Date</a:t>
            </a:r>
          </a:p>
          <a:p>
            <a:pPr lvl="1"/>
            <a:r>
              <a:rPr lang="en-US" sz="2200" dirty="0"/>
              <a:t>Array</a:t>
            </a:r>
          </a:p>
          <a:p>
            <a:pPr lvl="1"/>
            <a:r>
              <a:rPr lang="en-US" sz="2200" dirty="0"/>
              <a:t>Boolean</a:t>
            </a:r>
          </a:p>
          <a:p>
            <a:pPr lvl="1"/>
            <a:r>
              <a:rPr lang="en-US" sz="2200" dirty="0"/>
              <a:t>Math</a:t>
            </a:r>
          </a:p>
          <a:p>
            <a:pPr lvl="1"/>
            <a:r>
              <a:rPr lang="en-US" sz="2200" dirty="0" err="1"/>
              <a:t>RegExp</a:t>
            </a:r>
            <a:endParaRPr lang="en-US" sz="2200" dirty="0"/>
          </a:p>
          <a:p>
            <a:pPr lvl="1">
              <a:buNone/>
            </a:pPr>
            <a:r>
              <a:rPr lang="en-US" sz="2200" dirty="0"/>
              <a:t>	etc….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41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Date Object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 objects are created with the new Date() constructor.</a:t>
            </a:r>
          </a:p>
          <a:p>
            <a:r>
              <a:rPr lang="en-US" dirty="0"/>
              <a:t>There are 4 ways to create a new date object:</a:t>
            </a:r>
          </a:p>
          <a:p>
            <a:pPr lvl="1"/>
            <a:r>
              <a:rPr lang="en-US" sz="2200" dirty="0"/>
              <a:t>new Date()</a:t>
            </a:r>
          </a:p>
          <a:p>
            <a:pPr lvl="1"/>
            <a:r>
              <a:rPr lang="en-US" sz="2200" dirty="0"/>
              <a:t>new Date(year, month, day, hours, minutes, seconds, milliseconds)</a:t>
            </a:r>
          </a:p>
          <a:p>
            <a:pPr lvl="1"/>
            <a:r>
              <a:rPr lang="en-US" sz="2200" dirty="0"/>
              <a:t>new Date(milliseconds)</a:t>
            </a:r>
          </a:p>
          <a:p>
            <a:pPr lvl="1"/>
            <a:r>
              <a:rPr lang="en-US" sz="2200" dirty="0"/>
              <a:t>new Date(date string)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466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6125-0DFB-44DC-32BB-F05436B1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3EE16-09C7-2CB3-2D59-38095C1A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Get Date Methods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5449EB-CFE0-81FA-0481-7246C12DA4B2}"/>
              </a:ext>
            </a:extLst>
          </p:cNvPr>
          <p:cNvSpPr/>
          <p:nvPr/>
        </p:nvSpPr>
        <p:spPr>
          <a:xfrm>
            <a:off x="7907120" y="845628"/>
            <a:ext cx="405063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Note 1: </a:t>
            </a:r>
            <a:r>
              <a:rPr lang="en-US" sz="2000" dirty="0"/>
              <a:t>The get methods above return </a:t>
            </a:r>
            <a:r>
              <a:rPr lang="en-US" sz="2000" b="1" dirty="0"/>
              <a:t>Local time</a:t>
            </a:r>
            <a:r>
              <a:rPr lang="en-US" sz="2000" dirty="0"/>
              <a:t>. </a:t>
            </a:r>
            <a:r>
              <a:rPr lang="en-US" sz="2000" b="1" dirty="0"/>
              <a:t>Universal time</a:t>
            </a:r>
            <a:r>
              <a:rPr lang="en-US" sz="2000" dirty="0"/>
              <a:t> (UTC) is documented at the bottom of this page.</a:t>
            </a:r>
          </a:p>
          <a:p>
            <a:endParaRPr lang="en-US" sz="2000" dirty="0"/>
          </a:p>
          <a:p>
            <a:r>
              <a:rPr lang="en-US" sz="2000" b="1" dirty="0"/>
              <a:t>Note 2: </a:t>
            </a:r>
            <a:r>
              <a:rPr lang="en-US" sz="2000" dirty="0"/>
              <a:t>The get methods return information from existing date objects. In a date object, the time is static. The "clock" is not "running". The time in a date object is NOT the same as current time.</a:t>
            </a:r>
          </a:p>
          <a:p>
            <a:endParaRPr lang="en-US" sz="2000" dirty="0"/>
          </a:p>
          <a:p>
            <a:r>
              <a:rPr lang="en-US" sz="2000" b="1" dirty="0"/>
              <a:t>Note 3: </a:t>
            </a:r>
            <a:r>
              <a:rPr lang="en-US" sz="2000" dirty="0"/>
              <a:t>Old JavaScript code might use the non-standard method </a:t>
            </a:r>
            <a:r>
              <a:rPr lang="en-US" sz="2000" dirty="0" err="1"/>
              <a:t>getYear</a:t>
            </a:r>
            <a:r>
              <a:rPr lang="en-US" sz="2000" dirty="0"/>
              <a:t>().</a:t>
            </a:r>
          </a:p>
          <a:p>
            <a:r>
              <a:rPr lang="en-US" sz="2000" dirty="0" err="1"/>
              <a:t>getYear</a:t>
            </a:r>
            <a:r>
              <a:rPr lang="en-US" sz="2000" dirty="0"/>
              <a:t>() is supposed to return a 2-digit year. </a:t>
            </a:r>
            <a:r>
              <a:rPr lang="en-US" sz="2000" dirty="0" err="1"/>
              <a:t>getYear</a:t>
            </a:r>
            <a:r>
              <a:rPr lang="en-US" sz="2000" dirty="0"/>
              <a:t>() is deprecated. Do not use it!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CA52A3-79AA-76CD-B192-77C204B60A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1441397"/>
              </p:ext>
            </p:extLst>
          </p:nvPr>
        </p:nvGraphicFramePr>
        <p:xfrm>
          <a:off x="149290" y="1149818"/>
          <a:ext cx="7648975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90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kern="1200" dirty="0" err="1"/>
                        <a:t>getFullYear</a:t>
                      </a:r>
                      <a:r>
                        <a:rPr lang="en-IN" sz="2000" kern="1200" dirty="0"/>
                        <a:t>()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2000" kern="1200" dirty="0"/>
                        <a:t>Get the year as a four digit number (</a:t>
                      </a:r>
                      <a:r>
                        <a:rPr lang="en-US" sz="2000" kern="1200" dirty="0" err="1"/>
                        <a:t>yyyy</a:t>
                      </a:r>
                      <a:r>
                        <a:rPr lang="en-US" sz="2000" kern="1200" dirty="0"/>
                        <a:t>)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8BCCBF85-5702-0FF2-30CA-2C19856180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4277102"/>
              </p:ext>
            </p:extLst>
          </p:nvPr>
        </p:nvGraphicFramePr>
        <p:xfrm>
          <a:off x="149290" y="1932967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9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getMonth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Get the month as a number (0-11)</a:t>
                      </a:r>
                      <a:r>
                        <a:rPr lang="en-IN" sz="2000" b="0" kern="1200" dirty="0"/>
                        <a:t> 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55A9DC4-B428-96C3-D4E3-B37EBAFCA9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0223250"/>
              </p:ext>
            </p:extLst>
          </p:nvPr>
        </p:nvGraphicFramePr>
        <p:xfrm>
          <a:off x="149290" y="2326991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/>
                        <a:t>getDate</a:t>
                      </a:r>
                      <a:r>
                        <a:rPr lang="en-US" sz="2000" b="0" kern="1200" dirty="0"/>
                        <a:t>()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Get the date as a number (1-31)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F2EAE3F2-F92F-7166-7337-8255EA1955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8551848"/>
              </p:ext>
            </p:extLst>
          </p:nvPr>
        </p:nvGraphicFramePr>
        <p:xfrm>
          <a:off x="149290" y="2721015"/>
          <a:ext cx="764275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/>
                        <a:t>getHours</a:t>
                      </a:r>
                      <a:r>
                        <a:rPr lang="en-US" sz="2000" b="0" kern="1200" dirty="0"/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Get the hour (0-23)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4FCFB32-0B34-8EC5-72D0-48034CF6FD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1554548"/>
              </p:ext>
            </p:extLst>
          </p:nvPr>
        </p:nvGraphicFramePr>
        <p:xfrm>
          <a:off x="149290" y="3113872"/>
          <a:ext cx="7641771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getMinutes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Get the minute (0-59)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4935B66D-14CA-0CC9-D37C-C527ADB4F8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5919177"/>
              </p:ext>
            </p:extLst>
          </p:nvPr>
        </p:nvGraphicFramePr>
        <p:xfrm>
          <a:off x="149290" y="3507896"/>
          <a:ext cx="7641771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getSeconds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Get the second (0-59)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D4EAC265-DAD2-8622-DC05-8E37E1814D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438828"/>
              </p:ext>
            </p:extLst>
          </p:nvPr>
        </p:nvGraphicFramePr>
        <p:xfrm>
          <a:off x="149290" y="3900754"/>
          <a:ext cx="7641771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getMilliseconds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IN" sz="2000" b="0" kern="1200" dirty="0"/>
                        <a:t>Get the millisecond (0-999)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8F74DA63-F4C8-2FD0-9203-69FFDA15A2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2465007"/>
              </p:ext>
            </p:extLst>
          </p:nvPr>
        </p:nvGraphicFramePr>
        <p:xfrm>
          <a:off x="145650" y="4294782"/>
          <a:ext cx="7645411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91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4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getTime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/>
                        <a:t>Get the time (milliseconds since January 1, 1970)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6B543EFA-D050-FFEC-61E9-CE7E1EF7A2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9413176"/>
              </p:ext>
            </p:extLst>
          </p:nvPr>
        </p:nvGraphicFramePr>
        <p:xfrm>
          <a:off x="145199" y="4687637"/>
          <a:ext cx="7648974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9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9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getDay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Get the weekday as a number (0-6)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6D871AC4-A50C-EBF4-E536-7070F40F61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493710"/>
              </p:ext>
            </p:extLst>
          </p:nvPr>
        </p:nvGraphicFramePr>
        <p:xfrm>
          <a:off x="145199" y="5081665"/>
          <a:ext cx="7648974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91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6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Date.now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/>
                        <a:t>Get the time. ECMA Script 5.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33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C98F-239A-76EE-B55A-BD94B9103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093B-051C-7650-F361-A956B8C5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Date Methods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3BC4726A-A9E7-1BFE-3B71-5F23F670DA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015244"/>
              </p:ext>
            </p:extLst>
          </p:nvPr>
        </p:nvGraphicFramePr>
        <p:xfrm>
          <a:off x="2336826" y="1149818"/>
          <a:ext cx="7648975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90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dirty="0" err="1">
                          <a:effectLst/>
                        </a:rPr>
                        <a:t>setDate</a:t>
                      </a:r>
                      <a:r>
                        <a:rPr lang="en-IN" sz="2000" dirty="0">
                          <a:effectLst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</a:rPr>
                        <a:t>Set the day as a number (1-31)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E0E9BE-03EB-D439-88A7-78EA1E67D3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630238"/>
              </p:ext>
            </p:extLst>
          </p:nvPr>
        </p:nvGraphicFramePr>
        <p:xfrm>
          <a:off x="2336826" y="1932967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9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setFullYear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Set the year (optionally month and day)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996DC47-4FE0-3134-57D5-6EED0332D8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4084196"/>
              </p:ext>
            </p:extLst>
          </p:nvPr>
        </p:nvGraphicFramePr>
        <p:xfrm>
          <a:off x="2336826" y="2326991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/>
                        <a:t>setHours</a:t>
                      </a:r>
                      <a:r>
                        <a:rPr lang="en-US" sz="2000" b="0" kern="1200" dirty="0"/>
                        <a:t>()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Set the hour (0-23)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591A353-DE8C-63FC-8B4E-D3CAA82B4D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003612"/>
              </p:ext>
            </p:extLst>
          </p:nvPr>
        </p:nvGraphicFramePr>
        <p:xfrm>
          <a:off x="2336826" y="2721015"/>
          <a:ext cx="764275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/>
                        <a:t>setMilliseconds</a:t>
                      </a:r>
                      <a:r>
                        <a:rPr lang="en-US" sz="2000" b="0" kern="1200" dirty="0"/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Set the milliseconds (0-999)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CE6F14D7-027F-8340-F0F9-FE9275B574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5189581"/>
              </p:ext>
            </p:extLst>
          </p:nvPr>
        </p:nvGraphicFramePr>
        <p:xfrm>
          <a:off x="2339936" y="3113876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/>
                        <a:t>setMinutes</a:t>
                      </a:r>
                      <a:r>
                        <a:rPr lang="en-US" sz="2000" b="0" kern="1200" dirty="0"/>
                        <a:t>()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Set the minutes (0-59)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E964C773-F86B-9C1F-BC7F-F8C3D5BF37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7177499"/>
              </p:ext>
            </p:extLst>
          </p:nvPr>
        </p:nvGraphicFramePr>
        <p:xfrm>
          <a:off x="2339936" y="3507900"/>
          <a:ext cx="764275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/>
                        <a:t>setMonth</a:t>
                      </a:r>
                      <a:r>
                        <a:rPr lang="en-US" sz="2000" b="0" kern="1200" dirty="0"/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Set the month (0-11)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0CBED570-F2B4-8359-753D-964390FFFC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5425384"/>
              </p:ext>
            </p:extLst>
          </p:nvPr>
        </p:nvGraphicFramePr>
        <p:xfrm>
          <a:off x="2339935" y="3906971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/>
                        <a:t>setSeconds</a:t>
                      </a:r>
                      <a:r>
                        <a:rPr lang="en-US" sz="2000" b="0" kern="1200" dirty="0"/>
                        <a:t>()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Set the seconds (0-59)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9BD32119-CA94-98ED-F177-D8D83876C4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4402048"/>
              </p:ext>
            </p:extLst>
          </p:nvPr>
        </p:nvGraphicFramePr>
        <p:xfrm>
          <a:off x="2339935" y="4300995"/>
          <a:ext cx="764275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/>
                        <a:t>setTime</a:t>
                      </a:r>
                      <a:r>
                        <a:rPr lang="en-US" sz="2000" b="0" kern="1200" dirty="0"/>
                        <a:t>()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Set the time (milliseconds since January 1, 1970)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18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Calculate number of days left in your next birthday from date of birth.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864" y="1375696"/>
            <a:ext cx="4657311" cy="2031325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&lt;form&gt;</a:t>
            </a:r>
          </a:p>
          <a:p>
            <a:r>
              <a:rPr lang="en-US" dirty="0"/>
              <a:t>	Select </a:t>
            </a:r>
            <a:r>
              <a:rPr lang="en-US" dirty="0" err="1"/>
              <a:t>DoB</a:t>
            </a:r>
            <a:r>
              <a:rPr lang="en-US" dirty="0"/>
              <a:t>: &lt;input type="date" name="dob" id="dob" /&gt; 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	&lt;input type="submit" value="Calculate" onclick=" </a:t>
            </a:r>
            <a:r>
              <a:rPr lang="en-US" dirty="0" err="1"/>
              <a:t>daysremaining</a:t>
            </a:r>
            <a:r>
              <a:rPr lang="en-US" dirty="0"/>
              <a:t>()"&gt;</a:t>
            </a:r>
          </a:p>
          <a:p>
            <a:r>
              <a:rPr lang="en-US" dirty="0"/>
              <a:t>&lt;/form&gt;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FAC08-EFFB-0F0B-687B-F16E0394CB10}"/>
              </a:ext>
            </a:extLst>
          </p:cNvPr>
          <p:cNvSpPr txBox="1"/>
          <p:nvPr/>
        </p:nvSpPr>
        <p:spPr>
          <a:xfrm>
            <a:off x="511848" y="1375696"/>
            <a:ext cx="6532371" cy="5078313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	function </a:t>
            </a:r>
            <a:r>
              <a:rPr lang="en-US" dirty="0" err="1"/>
              <a:t>daysremaining</a:t>
            </a:r>
            <a:r>
              <a:rPr lang="en-US" dirty="0"/>
              <a:t>(){</a:t>
            </a:r>
          </a:p>
          <a:p>
            <a:r>
              <a:rPr lang="en-US" dirty="0"/>
              <a:t>		</a:t>
            </a:r>
            <a:r>
              <a:rPr lang="en-US" dirty="0" err="1"/>
              <a:t>currentDate</a:t>
            </a:r>
            <a:r>
              <a:rPr lang="en-US" dirty="0"/>
              <a:t> = new Date();</a:t>
            </a:r>
          </a:p>
          <a:p>
            <a:r>
              <a:rPr lang="en-US" dirty="0"/>
              <a:t>		</a:t>
            </a:r>
            <a:r>
              <a:rPr lang="en-US" dirty="0" err="1"/>
              <a:t>currentYear</a:t>
            </a:r>
            <a:r>
              <a:rPr lang="en-US" dirty="0"/>
              <a:t> = </a:t>
            </a:r>
            <a:r>
              <a:rPr lang="en-US" dirty="0" err="1"/>
              <a:t>currentDate.getFullYear</a:t>
            </a:r>
            <a:r>
              <a:rPr lang="en-US" dirty="0"/>
              <a:t>();</a:t>
            </a:r>
          </a:p>
          <a:p>
            <a:r>
              <a:rPr lang="en-US" dirty="0"/>
              <a:t>		d = </a:t>
            </a:r>
            <a:r>
              <a:rPr lang="en-US" dirty="0" err="1"/>
              <a:t>document.getElementById</a:t>
            </a:r>
            <a:r>
              <a:rPr lang="en-US" dirty="0"/>
              <a:t>("dob").value;</a:t>
            </a:r>
          </a:p>
          <a:p>
            <a:r>
              <a:rPr lang="en-US" dirty="0"/>
              <a:t>		dob = new Date(d);</a:t>
            </a:r>
          </a:p>
          <a:p>
            <a:r>
              <a:rPr lang="en-US" dirty="0"/>
              <a:t>		</a:t>
            </a:r>
            <a:r>
              <a:rPr lang="en-US" dirty="0" err="1"/>
              <a:t>dob.setFullYear</a:t>
            </a:r>
            <a:r>
              <a:rPr lang="en-US" dirty="0"/>
              <a:t>(</a:t>
            </a:r>
            <a:r>
              <a:rPr lang="en-US" dirty="0" err="1"/>
              <a:t>currentYear</a:t>
            </a:r>
            <a:r>
              <a:rPr lang="en-US" dirty="0"/>
              <a:t>);</a:t>
            </a:r>
          </a:p>
          <a:p>
            <a:r>
              <a:rPr lang="en-US" dirty="0"/>
              <a:t>		if (dob &lt; </a:t>
            </a:r>
            <a:r>
              <a:rPr lang="en-US" dirty="0" err="1"/>
              <a:t>currentDate</a:t>
            </a:r>
            <a:r>
              <a:rPr lang="en-US" dirty="0"/>
              <a:t>) {</a:t>
            </a:r>
          </a:p>
          <a:p>
            <a:r>
              <a:rPr lang="en-US" dirty="0"/>
              <a:t>			 </a:t>
            </a:r>
            <a:r>
              <a:rPr lang="en-US" dirty="0" err="1"/>
              <a:t>dob.setFullYear</a:t>
            </a:r>
            <a:r>
              <a:rPr lang="en-US" dirty="0"/>
              <a:t>(currentYear+1);</a:t>
            </a:r>
          </a:p>
          <a:p>
            <a:r>
              <a:rPr lang="en-US" dirty="0"/>
              <a:t>		}</a:t>
            </a:r>
          </a:p>
          <a:p>
            <a:r>
              <a:rPr lang="en-US" dirty="0"/>
              <a:t>		</a:t>
            </a:r>
            <a:r>
              <a:rPr lang="en-US" dirty="0" err="1"/>
              <a:t>timeLeft</a:t>
            </a:r>
            <a:r>
              <a:rPr lang="en-US" dirty="0"/>
              <a:t> = </a:t>
            </a:r>
            <a:r>
              <a:rPr lang="en-US" dirty="0" err="1"/>
              <a:t>Math.abs</a:t>
            </a:r>
            <a:r>
              <a:rPr lang="en-US" dirty="0"/>
              <a:t>(dob - </a:t>
            </a:r>
            <a:r>
              <a:rPr lang="en-US" dirty="0" err="1"/>
              <a:t>currentDate</a:t>
            </a:r>
            <a:r>
              <a:rPr lang="en-US" dirty="0"/>
              <a:t>);</a:t>
            </a:r>
          </a:p>
          <a:p>
            <a:r>
              <a:rPr lang="en-US" dirty="0"/>
              <a:t>		</a:t>
            </a:r>
            <a:r>
              <a:rPr lang="en-US" dirty="0" err="1"/>
              <a:t>daysLeft</a:t>
            </a:r>
            <a:r>
              <a:rPr lang="en-US" dirty="0"/>
              <a:t> = </a:t>
            </a:r>
            <a:r>
              <a:rPr lang="en-US" dirty="0" err="1"/>
              <a:t>Math.ceil</a:t>
            </a:r>
            <a:r>
              <a:rPr lang="en-US" dirty="0"/>
              <a:t>(</a:t>
            </a:r>
            <a:r>
              <a:rPr lang="en-US" dirty="0" err="1"/>
              <a:t>timeLeft</a:t>
            </a:r>
            <a:r>
              <a:rPr lang="en-US" dirty="0"/>
              <a:t> / (1000 * 60 * </a:t>
            </a:r>
          </a:p>
          <a:p>
            <a:r>
              <a:rPr lang="en-US" dirty="0"/>
              <a:t>		60 *    24));</a:t>
            </a:r>
          </a:p>
          <a:p>
            <a:r>
              <a:rPr lang="en-US" dirty="0"/>
              <a:t>		alert(</a:t>
            </a:r>
            <a:r>
              <a:rPr lang="en-US" dirty="0" err="1"/>
              <a:t>daysLeft</a:t>
            </a:r>
            <a:r>
              <a:rPr lang="en-US" dirty="0"/>
              <a:t>);</a:t>
            </a:r>
          </a:p>
          <a:p>
            <a:r>
              <a:rPr lang="en-US" dirty="0"/>
              <a:t>	}   </a:t>
            </a:r>
          </a:p>
          <a:p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6749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Object in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Math object allows you to perform </a:t>
            </a:r>
            <a:r>
              <a:rPr lang="en-US" dirty="0">
                <a:solidFill>
                  <a:srgbClr val="C00000"/>
                </a:solidFill>
              </a:rPr>
              <a:t>mathematical</a:t>
            </a:r>
            <a:r>
              <a:rPr lang="en-US" dirty="0"/>
              <a:t> tasks.</a:t>
            </a:r>
          </a:p>
          <a:p>
            <a:r>
              <a:rPr lang="en-US" dirty="0"/>
              <a:t>The Math object includes </a:t>
            </a:r>
            <a:r>
              <a:rPr lang="en-US" dirty="0">
                <a:solidFill>
                  <a:srgbClr val="C00000"/>
                </a:solidFill>
              </a:rPr>
              <a:t>several mathematical constants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methods</a:t>
            </a:r>
            <a:r>
              <a:rPr lang="en-US" dirty="0"/>
              <a:t>.</a:t>
            </a:r>
          </a:p>
          <a:p>
            <a:r>
              <a:rPr lang="en-US" dirty="0"/>
              <a:t>Math object has some properties which are,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0D1232-A533-1164-AE90-3196EF848E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0084492"/>
              </p:ext>
            </p:extLst>
          </p:nvPr>
        </p:nvGraphicFramePr>
        <p:xfrm>
          <a:off x="508028" y="2428110"/>
          <a:ext cx="7648975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90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8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dirty="0">
                          <a:effectLst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Euler's number(approx.2.718)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34E2636F-52C4-1A4A-CA8A-F04C1EF097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239460"/>
              </p:ext>
            </p:extLst>
          </p:nvPr>
        </p:nvGraphicFramePr>
        <p:xfrm>
          <a:off x="508028" y="3211259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9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9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LN2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Returns the natural logarithm of 2 (approx.0.693)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9054181-A3D4-72E4-CE8D-C940308141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4859676"/>
              </p:ext>
            </p:extLst>
          </p:nvPr>
        </p:nvGraphicFramePr>
        <p:xfrm>
          <a:off x="508028" y="3605283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LN10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Returns the natural logarithm of 10 (approx.2.302)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0344A54C-543A-CA31-F327-5640763809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8739723"/>
              </p:ext>
            </p:extLst>
          </p:nvPr>
        </p:nvGraphicFramePr>
        <p:xfrm>
          <a:off x="508028" y="3999307"/>
          <a:ext cx="764275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LOG2E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Returns the base‐2 logarithm of E (approx.1.442)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C9F339F2-EDAD-8C68-0CBC-04A3A9E5CB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5403346"/>
              </p:ext>
            </p:extLst>
          </p:nvPr>
        </p:nvGraphicFramePr>
        <p:xfrm>
          <a:off x="511138" y="4392168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LOG10E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Returns the base‐10 logarithm of E (approx.0.434)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BDF1EDD8-1EC3-1AD1-AE4C-005A33E09C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938791"/>
              </p:ext>
            </p:extLst>
          </p:nvPr>
        </p:nvGraphicFramePr>
        <p:xfrm>
          <a:off x="511138" y="4786192"/>
          <a:ext cx="764275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PI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Returns PI(approx.3.14)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CB7FCCF0-DDF6-2799-49CD-F647BA16F9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655025"/>
              </p:ext>
            </p:extLst>
          </p:nvPr>
        </p:nvGraphicFramePr>
        <p:xfrm>
          <a:off x="511137" y="5185263"/>
          <a:ext cx="764897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SQRT1_2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Returns square root of ½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1CD94CA3-3EA0-5907-5741-DE75EC36D7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4570374"/>
              </p:ext>
            </p:extLst>
          </p:nvPr>
        </p:nvGraphicFramePr>
        <p:xfrm>
          <a:off x="511137" y="5579287"/>
          <a:ext cx="764275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87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5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dirty="0"/>
                        <a:t>SQRT2</a:t>
                      </a:r>
                      <a:endParaRPr lang="en-US" sz="2000" b="0" kern="12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Returns square root of 2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68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1DA7-EF51-3050-9C1E-1B0730BA6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46F59-EB7E-3DE7-D441-EFA23972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Methods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5958B784-8ABA-6B55-6880-010BBFA929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409201"/>
              </p:ext>
            </p:extLst>
          </p:nvPr>
        </p:nvGraphicFramePr>
        <p:xfrm>
          <a:off x="2504778" y="1233791"/>
          <a:ext cx="6536586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abs(x)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the absolute value of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EC3F1CB-8CBB-EB84-FCC8-2F0B3B4376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7270475"/>
              </p:ext>
            </p:extLst>
          </p:nvPr>
        </p:nvGraphicFramePr>
        <p:xfrm>
          <a:off x="2504778" y="2016940"/>
          <a:ext cx="6536586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sin(x)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/>
                        <a:t>Returns the sine of x (x is in radians)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030F094-9A25-CB23-A3B1-35D9B138F6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6249713"/>
              </p:ext>
            </p:extLst>
          </p:nvPr>
        </p:nvGraphicFramePr>
        <p:xfrm>
          <a:off x="2504778" y="2410964"/>
          <a:ext cx="6536586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cos(x)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the cosine of x (x is in radians)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F47C34F-5289-6A1B-11A2-418B14E80C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4757944"/>
              </p:ext>
            </p:extLst>
          </p:nvPr>
        </p:nvGraphicFramePr>
        <p:xfrm>
          <a:off x="2504778" y="2804988"/>
          <a:ext cx="6536586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8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tan(x)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the tan of x (x is in radians)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95ACECB6-A4C4-EB8A-61B3-9A59B891B4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8385860"/>
              </p:ext>
            </p:extLst>
          </p:nvPr>
        </p:nvGraphicFramePr>
        <p:xfrm>
          <a:off x="2507888" y="3197849"/>
          <a:ext cx="6533476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acos</a:t>
                      </a:r>
                      <a:r>
                        <a:rPr lang="en-US" sz="2000" b="0" dirty="0"/>
                        <a:t>(x)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the arccosine of x, in radians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A90836E5-BD99-D6FD-CBFB-518A564AE8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6393505"/>
              </p:ext>
            </p:extLst>
          </p:nvPr>
        </p:nvGraphicFramePr>
        <p:xfrm>
          <a:off x="2507888" y="3591873"/>
          <a:ext cx="6533476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asin</a:t>
                      </a:r>
                      <a:r>
                        <a:rPr lang="en-US" sz="2000" b="0" dirty="0"/>
                        <a:t>(x)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the arcsine of x, in radians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8235F6D7-6B32-7814-C75D-F998AF130A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2361472"/>
              </p:ext>
            </p:extLst>
          </p:nvPr>
        </p:nvGraphicFramePr>
        <p:xfrm>
          <a:off x="2507887" y="3990944"/>
          <a:ext cx="653347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4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atan</a:t>
                      </a:r>
                      <a:r>
                        <a:rPr lang="en-US" sz="2000" b="0" dirty="0"/>
                        <a:t>(x)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the arctangent of x as a numeric value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208B9DE3-D166-C3EB-4FC8-9AD821EF5F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960623"/>
              </p:ext>
            </p:extLst>
          </p:nvPr>
        </p:nvGraphicFramePr>
        <p:xfrm>
          <a:off x="2507887" y="4384968"/>
          <a:ext cx="653347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4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atan2(</a:t>
                      </a:r>
                      <a:r>
                        <a:rPr lang="en-US" sz="2000" b="0" dirty="0" err="1"/>
                        <a:t>x,y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arctangent</a:t>
                      </a:r>
                      <a:r>
                        <a:rPr lang="en-US" sz="2000" b="0" baseline="0" dirty="0"/>
                        <a:t> of x to y quotient</a:t>
                      </a:r>
                      <a:endParaRPr lang="en-US" sz="2000" b="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9D11BA3-A7EB-813A-49C0-F4B7CA21B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802697"/>
              </p:ext>
            </p:extLst>
          </p:nvPr>
        </p:nvGraphicFramePr>
        <p:xfrm>
          <a:off x="2508382" y="4774101"/>
          <a:ext cx="653298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94451">
                  <a:extLst>
                    <a:ext uri="{9D8B030D-6E8A-4147-A177-3AD203B41FA5}">
                      <a16:colId xmlns:a16="http://schemas.microsoft.com/office/drawing/2014/main" val="4224443261"/>
                    </a:ext>
                  </a:extLst>
                </a:gridCol>
                <a:gridCol w="5038531">
                  <a:extLst>
                    <a:ext uri="{9D8B030D-6E8A-4147-A177-3AD203B41FA5}">
                      <a16:colId xmlns:a16="http://schemas.microsoft.com/office/drawing/2014/main" val="2450412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random()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random floating number between 0 to 1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156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02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9248-0349-63D9-EE0C-5ACB3A708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179A-DC07-956D-69C4-3AD9A94A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Methods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D492FE0D-93CE-8A44-2B0D-427F42660A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5064171"/>
              </p:ext>
            </p:extLst>
          </p:nvPr>
        </p:nvGraphicFramePr>
        <p:xfrm>
          <a:off x="2504778" y="1233791"/>
          <a:ext cx="7833540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Methods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exp(x)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the value of 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274C347-9FBC-BBA1-4FB8-41295523BD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877169"/>
              </p:ext>
            </p:extLst>
          </p:nvPr>
        </p:nvGraphicFramePr>
        <p:xfrm>
          <a:off x="2504778" y="2016940"/>
          <a:ext cx="7833540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ceil(x)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/>
                        <a:t>Returns x, rounded upwards to the nearest integer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72DE4C6-8F8A-B993-B771-D0B5CBD9A6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903749"/>
              </p:ext>
            </p:extLst>
          </p:nvPr>
        </p:nvGraphicFramePr>
        <p:xfrm>
          <a:off x="2504778" y="2410964"/>
          <a:ext cx="7833540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floor(x)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x, rounded downwards to the nearest integer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F45DB7E-49C4-633A-0F73-7D0FDB4E8F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9904"/>
              </p:ext>
            </p:extLst>
          </p:nvPr>
        </p:nvGraphicFramePr>
        <p:xfrm>
          <a:off x="2504778" y="2804988"/>
          <a:ext cx="7834038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8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log(x)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the natural logarithm(base E) of x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A634DD2-7212-E673-9596-1E0B5E98EC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5535312"/>
              </p:ext>
            </p:extLst>
          </p:nvPr>
        </p:nvGraphicFramePr>
        <p:xfrm>
          <a:off x="2507888" y="3197849"/>
          <a:ext cx="7830430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round(x)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Rounds x to the nearest integer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DD88E676-B4C7-684C-8FA6-FEF7ADA2E8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473470"/>
              </p:ext>
            </p:extLst>
          </p:nvPr>
        </p:nvGraphicFramePr>
        <p:xfrm>
          <a:off x="2507888" y="3591873"/>
          <a:ext cx="7830430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8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pow(</a:t>
                      </a:r>
                      <a:r>
                        <a:rPr lang="en-US" sz="2000" b="0" dirty="0" err="1"/>
                        <a:t>x,y</a:t>
                      </a:r>
                      <a:r>
                        <a:rPr lang="en-US" sz="2000" b="0" dirty="0"/>
                        <a:t>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the value of x to the power of y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2ECDACDC-1824-BECC-986C-A54CC9899F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3817264"/>
              </p:ext>
            </p:extLst>
          </p:nvPr>
        </p:nvGraphicFramePr>
        <p:xfrm>
          <a:off x="2507887" y="3990944"/>
          <a:ext cx="782985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2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max(</a:t>
                      </a:r>
                      <a:r>
                        <a:rPr lang="en-US" sz="2000" b="0" dirty="0" err="1"/>
                        <a:t>x,y,z</a:t>
                      </a:r>
                      <a:r>
                        <a:rPr lang="en-US" sz="2000" b="0" dirty="0"/>
                        <a:t>,...,n)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Returns the number with the highest value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64D5BFFD-5D0D-DB6B-28C4-202B45028C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6773387"/>
              </p:ext>
            </p:extLst>
          </p:nvPr>
        </p:nvGraphicFramePr>
        <p:xfrm>
          <a:off x="2507886" y="4384968"/>
          <a:ext cx="7830431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2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min(</a:t>
                      </a:r>
                      <a:r>
                        <a:rPr lang="en-US" sz="2000" b="0" dirty="0" err="1"/>
                        <a:t>x,y,z</a:t>
                      </a:r>
                      <a:r>
                        <a:rPr lang="en-US" sz="2000" b="0" dirty="0"/>
                        <a:t>,...,n)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Returns the number with the lowest value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AC3E30-8E94-D879-8B9E-2A42CF019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158075"/>
              </p:ext>
            </p:extLst>
          </p:nvPr>
        </p:nvGraphicFramePr>
        <p:xfrm>
          <a:off x="2508382" y="4774101"/>
          <a:ext cx="782985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1610">
                  <a:extLst>
                    <a:ext uri="{9D8B030D-6E8A-4147-A177-3AD203B41FA5}">
                      <a16:colId xmlns:a16="http://schemas.microsoft.com/office/drawing/2014/main" val="4224443261"/>
                    </a:ext>
                  </a:extLst>
                </a:gridCol>
                <a:gridCol w="5738247">
                  <a:extLst>
                    <a:ext uri="{9D8B030D-6E8A-4147-A177-3AD203B41FA5}">
                      <a16:colId xmlns:a16="http://schemas.microsoft.com/office/drawing/2014/main" val="2450412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/>
                        <a:t>sqrt(x)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Returns the square root of x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156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37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allows you to create your own objects.</a:t>
            </a:r>
          </a:p>
          <a:p>
            <a:r>
              <a:rPr lang="en-US" dirty="0"/>
              <a:t>The first step is to use the new operator.</a:t>
            </a:r>
          </a:p>
          <a:p>
            <a:pPr lvl="1">
              <a:buNone/>
            </a:pPr>
            <a:r>
              <a:rPr lang="en-US" i="1" dirty="0" err="1">
                <a:solidFill>
                  <a:srgbClr val="C00000"/>
                </a:solidFill>
              </a:rPr>
              <a:t>var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i="1" dirty="0" err="1">
                <a:solidFill>
                  <a:srgbClr val="C00000"/>
                </a:solidFill>
              </a:rPr>
              <a:t>myObj</a:t>
            </a:r>
            <a:r>
              <a:rPr lang="en-US" i="1" dirty="0">
                <a:solidFill>
                  <a:srgbClr val="C00000"/>
                </a:solidFill>
              </a:rPr>
              <a:t> = new Object();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This creates an empty object, This can then be used to start a new object that you can then give new properties and methods.</a:t>
            </a:r>
          </a:p>
          <a:p>
            <a:r>
              <a:rPr lang="en-US" dirty="0"/>
              <a:t>In object- oriented programming such a new object is usually given a constructor to initialize values when it is first created.</a:t>
            </a:r>
          </a:p>
          <a:p>
            <a:r>
              <a:rPr lang="en-US" dirty="0"/>
              <a:t>However, it is also possible to assign values when it is made with literal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931" y="4141058"/>
            <a:ext cx="6844145" cy="230832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example</a:t>
            </a:r>
            <a:endParaRPr lang="en-US" dirty="0"/>
          </a:p>
          <a:p>
            <a:pPr lvl="1"/>
            <a:r>
              <a:rPr lang="en-US" dirty="0"/>
              <a:t>	person={</a:t>
            </a:r>
          </a:p>
          <a:p>
            <a:r>
              <a:rPr lang="en-US" dirty="0"/>
              <a:t>		</a:t>
            </a:r>
            <a:r>
              <a:rPr lang="en-US" dirty="0" err="1"/>
              <a:t>firstname</a:t>
            </a:r>
            <a:r>
              <a:rPr lang="en-US" dirty="0"/>
              <a:t>: "</a:t>
            </a:r>
            <a:r>
              <a:rPr lang="en-US" dirty="0" err="1"/>
              <a:t>Darshan</a:t>
            </a:r>
            <a:r>
              <a:rPr lang="en-US" dirty="0"/>
              <a:t>",</a:t>
            </a:r>
          </a:p>
          <a:p>
            <a:pPr lvl="2"/>
            <a:r>
              <a:rPr lang="en-US" dirty="0"/>
              <a:t>	</a:t>
            </a:r>
            <a:r>
              <a:rPr lang="en-US" dirty="0" err="1"/>
              <a:t>lastname</a:t>
            </a:r>
            <a:r>
              <a:rPr lang="en-US" dirty="0"/>
              <a:t>: "College",</a:t>
            </a:r>
          </a:p>
          <a:p>
            <a:r>
              <a:rPr lang="en-US" dirty="0"/>
              <a:t>		age: 50,</a:t>
            </a:r>
          </a:p>
          <a:p>
            <a:r>
              <a:rPr lang="en-US" dirty="0"/>
              <a:t>		</a:t>
            </a:r>
            <a:r>
              <a:rPr lang="en-US" dirty="0" err="1"/>
              <a:t>eyecolor</a:t>
            </a:r>
            <a:r>
              <a:rPr lang="en-US" dirty="0"/>
              <a:t>: "blue"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    	alert(</a:t>
            </a:r>
            <a:r>
              <a:rPr lang="en-US" dirty="0" err="1"/>
              <a:t>person.firstname</a:t>
            </a:r>
            <a:r>
              <a:rPr lang="en-US" dirty="0"/>
              <a:t> + " is " + </a:t>
            </a:r>
            <a:r>
              <a:rPr lang="en-US" dirty="0" err="1"/>
              <a:t>person.age</a:t>
            </a:r>
            <a:r>
              <a:rPr lang="en-US" dirty="0"/>
              <a:t> + " years old.");</a:t>
            </a:r>
          </a:p>
        </p:txBody>
      </p:sp>
    </p:spTree>
    <p:extLst>
      <p:ext uri="{BB962C8B-B14F-4D97-AF65-F5344CB8AC3E}">
        <p14:creationId xmlns:p14="http://schemas.microsoft.com/office/powerpoint/2010/main" val="106367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Defined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constructor is </a:t>
            </a:r>
            <a:r>
              <a:rPr lang="en-US" dirty="0">
                <a:solidFill>
                  <a:srgbClr val="C00000"/>
                </a:solidFill>
              </a:rPr>
              <a:t>pre defined method </a:t>
            </a:r>
            <a:r>
              <a:rPr lang="en-US" dirty="0"/>
              <a:t>that will initialize your object.</a:t>
            </a:r>
          </a:p>
          <a:p>
            <a:r>
              <a:rPr lang="en-US" dirty="0"/>
              <a:t>To do this in JavaScript a function is used that is invoked through the </a:t>
            </a:r>
            <a:r>
              <a:rPr lang="en-US" i="1" dirty="0"/>
              <a:t>new</a:t>
            </a:r>
            <a:r>
              <a:rPr lang="en-US" dirty="0"/>
              <a:t> operator.</a:t>
            </a:r>
          </a:p>
          <a:p>
            <a:r>
              <a:rPr lang="en-US" dirty="0"/>
              <a:t>Any properties inside the newly created object are assigned using </a:t>
            </a:r>
            <a:r>
              <a:rPr lang="en-US" i="1" dirty="0"/>
              <a:t>this</a:t>
            </a:r>
            <a:r>
              <a:rPr lang="en-US" dirty="0"/>
              <a:t> keyword, referring to the current object being created.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9243" y="2669771"/>
            <a:ext cx="8458200" cy="378565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example</a:t>
            </a:r>
            <a:endParaRPr lang="en-US" sz="2000" dirty="0"/>
          </a:p>
          <a:p>
            <a:r>
              <a:rPr lang="en-US" sz="2000" dirty="0"/>
              <a:t> &lt;script&gt;</a:t>
            </a:r>
          </a:p>
          <a:p>
            <a:r>
              <a:rPr lang="en-US" sz="2000" dirty="0"/>
              <a:t>	function person(</a:t>
            </a:r>
            <a:r>
              <a:rPr lang="en-US" sz="2000" dirty="0" err="1"/>
              <a:t>firstname</a:t>
            </a:r>
            <a:r>
              <a:rPr lang="en-US" sz="2000" dirty="0"/>
              <a:t>, </a:t>
            </a:r>
            <a:r>
              <a:rPr lang="en-US" sz="2000" dirty="0" err="1"/>
              <a:t>lastname</a:t>
            </a:r>
            <a:r>
              <a:rPr lang="en-US" sz="2000" dirty="0"/>
              <a:t>, age){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this.firstname</a:t>
            </a:r>
            <a:r>
              <a:rPr lang="en-US" sz="2000" dirty="0"/>
              <a:t> = </a:t>
            </a:r>
            <a:r>
              <a:rPr lang="en-US" sz="2000" dirty="0" err="1"/>
              <a:t>firstname</a:t>
            </a:r>
            <a:r>
              <a:rPr lang="en-US" sz="2000" dirty="0"/>
              <a:t>;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this.lastname</a:t>
            </a:r>
            <a:r>
              <a:rPr lang="en-US" sz="2000" dirty="0"/>
              <a:t> = </a:t>
            </a:r>
            <a:r>
              <a:rPr lang="en-US" sz="2000" dirty="0" err="1"/>
              <a:t>lastname</a:t>
            </a:r>
            <a:r>
              <a:rPr lang="en-US" sz="2000" dirty="0"/>
              <a:t>;</a:t>
            </a:r>
          </a:p>
          <a:p>
            <a:r>
              <a:rPr lang="en-US" sz="2000" dirty="0"/>
              <a:t>		this. </a:t>
            </a:r>
            <a:r>
              <a:rPr lang="en-US" sz="2000" dirty="0" err="1"/>
              <a:t>changeFirstName</a:t>
            </a:r>
            <a:r>
              <a:rPr lang="en-US" sz="2000" dirty="0"/>
              <a:t> = function (name){ </a:t>
            </a:r>
            <a:r>
              <a:rPr lang="en-US" sz="2000" dirty="0" err="1"/>
              <a:t>this.firstname</a:t>
            </a:r>
            <a:r>
              <a:rPr lang="en-US" sz="2000" dirty="0"/>
              <a:t> = name };</a:t>
            </a:r>
          </a:p>
          <a:p>
            <a:r>
              <a:rPr lang="en-US" sz="2000" dirty="0"/>
              <a:t>	}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var</a:t>
            </a:r>
            <a:r>
              <a:rPr lang="en-US" sz="2000" dirty="0"/>
              <a:t> person1=new person("Narendra","Modi",50);</a:t>
            </a:r>
          </a:p>
          <a:p>
            <a:r>
              <a:rPr lang="en-US" sz="2000" dirty="0"/>
              <a:t>	person1.changeFirstName(“NAMO”);</a:t>
            </a:r>
          </a:p>
          <a:p>
            <a:r>
              <a:rPr lang="en-US" sz="2000" dirty="0"/>
              <a:t>	alert(person1.firstname + “ ”+ person1.lastname);</a:t>
            </a:r>
          </a:p>
          <a:p>
            <a:r>
              <a:rPr lang="en-US" sz="20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14099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 (DOM)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Document Object Model is a platform and language neutral interface that will allow programs and scripts to dynamically access and update the content, structure and style of documents.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window</a:t>
            </a:r>
            <a:r>
              <a:rPr lang="en-US" dirty="0"/>
              <a:t> object is the primary point from which most other objects come.</a:t>
            </a:r>
          </a:p>
          <a:p>
            <a:r>
              <a:rPr lang="en-US" dirty="0"/>
              <a:t>From the current window object </a:t>
            </a:r>
            <a:r>
              <a:rPr lang="en-US" dirty="0">
                <a:solidFill>
                  <a:srgbClr val="C00000"/>
                </a:solidFill>
              </a:rPr>
              <a:t>access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control</a:t>
            </a:r>
            <a:r>
              <a:rPr lang="en-US" dirty="0"/>
              <a:t> can be given to most aspects of the </a:t>
            </a:r>
            <a:r>
              <a:rPr lang="en-US" dirty="0">
                <a:solidFill>
                  <a:srgbClr val="C00000"/>
                </a:solidFill>
              </a:rPr>
              <a:t>browser features </a:t>
            </a:r>
            <a:r>
              <a:rPr lang="en-US" dirty="0"/>
              <a:t>and the </a:t>
            </a:r>
            <a:r>
              <a:rPr lang="en-US" dirty="0">
                <a:solidFill>
                  <a:srgbClr val="C00000"/>
                </a:solidFill>
              </a:rPr>
              <a:t>HTML document</a:t>
            </a:r>
            <a:r>
              <a:rPr lang="en-US" dirty="0"/>
              <a:t>.</a:t>
            </a:r>
          </a:p>
          <a:p>
            <a:r>
              <a:rPr lang="en-US" dirty="0"/>
              <a:t>When we write :</a:t>
            </a:r>
          </a:p>
          <a:p>
            <a:pPr lvl="1">
              <a:buNone/>
            </a:pPr>
            <a:r>
              <a:rPr lang="en-US" dirty="0" err="1"/>
              <a:t>document.write</a:t>
            </a:r>
            <a:r>
              <a:rPr lang="en-US" dirty="0"/>
              <a:t>(“Hello World”);</a:t>
            </a:r>
          </a:p>
          <a:p>
            <a:r>
              <a:rPr lang="en-US" dirty="0"/>
              <a:t>We are actually writing :</a:t>
            </a:r>
          </a:p>
          <a:p>
            <a:pPr lvl="1">
              <a:buNone/>
            </a:pPr>
            <a:r>
              <a:rPr lang="en-US" sz="2200" dirty="0" err="1"/>
              <a:t>window.document.write</a:t>
            </a:r>
            <a:r>
              <a:rPr lang="en-US" sz="2200" dirty="0"/>
              <a:t>(“Hello World”);</a:t>
            </a:r>
          </a:p>
          <a:p>
            <a:pPr lvl="1">
              <a:buNone/>
            </a:pPr>
            <a:r>
              <a:rPr lang="en-US" sz="2200" dirty="0"/>
              <a:t>The </a:t>
            </a:r>
            <a:r>
              <a:rPr lang="en-US" sz="2200" dirty="0">
                <a:solidFill>
                  <a:srgbClr val="C00000"/>
                </a:solidFill>
              </a:rPr>
              <a:t>window</a:t>
            </a:r>
            <a:r>
              <a:rPr lang="en-US" sz="2200" dirty="0"/>
              <a:t> is just there by default</a:t>
            </a:r>
            <a:endParaRPr lang="en-US" sz="22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23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Model (DOM)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 dirty="0">
                <a:solidFill>
                  <a:srgbClr val="C00000"/>
                </a:solidFill>
              </a:rPr>
              <a:t>window </a:t>
            </a:r>
            <a:r>
              <a:rPr lang="en-US" dirty="0"/>
              <a:t>object represents the window or frame that displays the document and is the global object in client side programming for JavaScript.</a:t>
            </a:r>
          </a:p>
          <a:p>
            <a:r>
              <a:rPr lang="en-US" dirty="0"/>
              <a:t>All the client side objects are connected to the window object.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621" y="2156059"/>
            <a:ext cx="7696000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2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5646-D795-406C-418D-8B8D414A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4EB10-576E-ACEC-3ADE-AEBEC694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Properties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8B8C0-308B-7DB8-8094-58429E433F59}"/>
              </a:ext>
            </a:extLst>
          </p:cNvPr>
          <p:cNvSpPr txBox="1"/>
          <p:nvPr/>
        </p:nvSpPr>
        <p:spPr>
          <a:xfrm>
            <a:off x="370933" y="5822829"/>
            <a:ext cx="813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Note: Red color properties are deprecated and not supported in many browser versions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75C0AFB-F18D-2C4B-C61D-69FF7712C7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4275356"/>
              </p:ext>
            </p:extLst>
          </p:nvPr>
        </p:nvGraphicFramePr>
        <p:xfrm>
          <a:off x="470704" y="1037848"/>
          <a:ext cx="9223801" cy="79146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Property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anchors</a:t>
                      </a:r>
                      <a:endParaRPr lang="en-US" sz="20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Returns a collection of all the anchors in the document</a:t>
                      </a:r>
                      <a:endParaRPr lang="en-US" sz="200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1AE133D-592C-4119-5892-4E2E01A505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1386578"/>
              </p:ext>
            </p:extLst>
          </p:nvPr>
        </p:nvGraphicFramePr>
        <p:xfrm>
          <a:off x="470704" y="1820997"/>
          <a:ext cx="9223801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FF0000"/>
                          </a:solidFill>
                        </a:rPr>
                        <a:t>applets</a:t>
                      </a:r>
                      <a:endParaRPr lang="en-US" sz="2000" b="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solidFill>
                            <a:srgbClr val="FF0000"/>
                          </a:solidFill>
                        </a:rPr>
                        <a:t>Returns a collection of all the applets in the document</a:t>
                      </a:r>
                      <a:endParaRPr lang="en-US" sz="2000" b="0" dirty="0">
                        <a:solidFill>
                          <a:srgbClr val="FF0000"/>
                        </a:solidFill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AA82265-9E40-14E5-E0F5-5842C965B7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7705593"/>
              </p:ext>
            </p:extLst>
          </p:nvPr>
        </p:nvGraphicFramePr>
        <p:xfrm>
          <a:off x="470704" y="2196359"/>
          <a:ext cx="9223801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6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body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Returns the body element of the document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3B1C42A4-7674-2E82-6033-B3A4B8A283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7523001"/>
              </p:ext>
            </p:extLst>
          </p:nvPr>
        </p:nvGraphicFramePr>
        <p:xfrm>
          <a:off x="470705" y="2571721"/>
          <a:ext cx="92238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6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cookie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Returns all name/value pairs of cookies in the document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2202359D-ED53-7165-9253-C6DD92FAD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3088460"/>
              </p:ext>
            </p:extLst>
          </p:nvPr>
        </p:nvGraphicFramePr>
        <p:xfrm>
          <a:off x="473815" y="2945920"/>
          <a:ext cx="9225744" cy="4206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3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domain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Returns the domain name of the server that loaded the document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6FB0C673-465F-9F3D-950B-521F940394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720304"/>
              </p:ext>
            </p:extLst>
          </p:nvPr>
        </p:nvGraphicFramePr>
        <p:xfrm>
          <a:off x="473814" y="3364852"/>
          <a:ext cx="9226419" cy="4206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3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forms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Returns a collection of all the forms in the document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75559405-C7AD-4E61-322E-BB2AA763BF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676676"/>
              </p:ext>
            </p:extLst>
          </p:nvPr>
        </p:nvGraphicFramePr>
        <p:xfrm>
          <a:off x="473814" y="3791916"/>
          <a:ext cx="9225744" cy="4206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34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2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images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Returns a collection of all the images in the document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FAEEC7B6-AE9F-79D0-AE09-3570BFC2FC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5591319"/>
              </p:ext>
            </p:extLst>
          </p:nvPr>
        </p:nvGraphicFramePr>
        <p:xfrm>
          <a:off x="473813" y="4217018"/>
          <a:ext cx="922642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3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links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kern="1200" dirty="0"/>
                        <a:t>Returns a collection of all the links in the document (CSSs)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6EFC05D-884D-9673-FB41-A0BEB366E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132065"/>
              </p:ext>
            </p:extLst>
          </p:nvPr>
        </p:nvGraphicFramePr>
        <p:xfrm>
          <a:off x="474308" y="4587489"/>
          <a:ext cx="9229529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2990">
                  <a:extLst>
                    <a:ext uri="{9D8B030D-6E8A-4147-A177-3AD203B41FA5}">
                      <a16:colId xmlns:a16="http://schemas.microsoft.com/office/drawing/2014/main" val="4224443261"/>
                    </a:ext>
                  </a:extLst>
                </a:gridCol>
                <a:gridCol w="7296539">
                  <a:extLst>
                    <a:ext uri="{9D8B030D-6E8A-4147-A177-3AD203B41FA5}">
                      <a16:colId xmlns:a16="http://schemas.microsoft.com/office/drawing/2014/main" val="2450412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Referrer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Returns the URL of the document that loaded the current document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156184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465418E7-236E-378F-2807-8140DAF8CA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5189643"/>
              </p:ext>
            </p:extLst>
          </p:nvPr>
        </p:nvGraphicFramePr>
        <p:xfrm>
          <a:off x="476921" y="4957244"/>
          <a:ext cx="922642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30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title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Sets or returns the title of the document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0B1301C-05BD-6401-A945-983430BA8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696445"/>
              </p:ext>
            </p:extLst>
          </p:nvPr>
        </p:nvGraphicFramePr>
        <p:xfrm>
          <a:off x="477417" y="5327719"/>
          <a:ext cx="922642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929881">
                  <a:extLst>
                    <a:ext uri="{9D8B030D-6E8A-4147-A177-3AD203B41FA5}">
                      <a16:colId xmlns:a16="http://schemas.microsoft.com/office/drawing/2014/main" val="4224443261"/>
                    </a:ext>
                  </a:extLst>
                </a:gridCol>
                <a:gridCol w="7296539">
                  <a:extLst>
                    <a:ext uri="{9D8B030D-6E8A-4147-A177-3AD203B41FA5}">
                      <a16:colId xmlns:a16="http://schemas.microsoft.com/office/drawing/2014/main" val="2450412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URL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Returns the full URL of the document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156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85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0927-E7A3-875F-A48C-E9E09F07C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FFDC-5E15-E514-F70F-FA9B8E7E9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Object Methods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E1F868A-C996-F369-C9B6-B34B539945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5612583"/>
              </p:ext>
            </p:extLst>
          </p:nvPr>
        </p:nvGraphicFramePr>
        <p:xfrm>
          <a:off x="470704" y="1037848"/>
          <a:ext cx="10349694" cy="79146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65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Method </a:t>
                      </a:r>
                      <a:endParaRPr lang="en-US" sz="2000" b="1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write()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/>
                        <a:t>Writes HTML expressions or JavaScript code to a document</a:t>
                      </a:r>
                      <a:endParaRPr lang="en-US" sz="200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C4709A-7113-F4F7-6006-8B38555420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8933785"/>
              </p:ext>
            </p:extLst>
          </p:nvPr>
        </p:nvGraphicFramePr>
        <p:xfrm>
          <a:off x="470704" y="1820997"/>
          <a:ext cx="10349694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65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err="1"/>
                        <a:t>writeln</a:t>
                      </a:r>
                      <a:r>
                        <a:rPr lang="en-US" sz="2000" b="0" dirty="0"/>
                        <a:t>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Same as write(), but adds a newline character after each statement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9D534234-B151-92A2-877C-CF258734ED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5140426"/>
              </p:ext>
            </p:extLst>
          </p:nvPr>
        </p:nvGraphicFramePr>
        <p:xfrm>
          <a:off x="470705" y="2196359"/>
          <a:ext cx="10349694" cy="67970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6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4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open()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Opens an output stream to collect the output from </a:t>
                      </a:r>
                      <a:r>
                        <a:rPr lang="en-US" sz="2000" b="0" dirty="0" err="1"/>
                        <a:t>document.write</a:t>
                      </a:r>
                      <a:r>
                        <a:rPr lang="en-US" sz="2000" b="0" dirty="0"/>
                        <a:t>() or </a:t>
                      </a:r>
                      <a:r>
                        <a:rPr lang="en-US" sz="2000" b="0" dirty="0" err="1"/>
                        <a:t>document.writeln</a:t>
                      </a:r>
                      <a:r>
                        <a:rPr lang="en-US" sz="2000" b="0" dirty="0"/>
                        <a:t>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53FCF58-9E44-482E-8827-D6156D9B13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1733856"/>
              </p:ext>
            </p:extLst>
          </p:nvPr>
        </p:nvGraphicFramePr>
        <p:xfrm>
          <a:off x="470705" y="2879624"/>
          <a:ext cx="10349694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6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4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close()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Closes the output stream previously opened with </a:t>
                      </a:r>
                      <a:r>
                        <a:rPr lang="en-US" sz="2000" b="0" dirty="0" err="1"/>
                        <a:t>document.open</a:t>
                      </a:r>
                      <a:r>
                        <a:rPr lang="en-US" sz="2000" b="0" dirty="0"/>
                        <a:t>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AF21062-408C-D34B-8F75-24B9A79B8F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625386"/>
              </p:ext>
            </p:extLst>
          </p:nvPr>
        </p:nvGraphicFramePr>
        <p:xfrm>
          <a:off x="473815" y="3253823"/>
          <a:ext cx="10349694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62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err="1"/>
                        <a:t>getElementById</a:t>
                      </a:r>
                      <a:r>
                        <a:rPr lang="en-US" sz="2000" b="0" dirty="0"/>
                        <a:t>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Accesses element with a specified id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958F0F1-F8EB-8461-8FB9-233E4AFB95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3994978"/>
              </p:ext>
            </p:extLst>
          </p:nvPr>
        </p:nvGraphicFramePr>
        <p:xfrm>
          <a:off x="473815" y="3626100"/>
          <a:ext cx="10349696" cy="4206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62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err="1"/>
                        <a:t>getElementsByName</a:t>
                      </a:r>
                      <a:r>
                        <a:rPr lang="en-US" sz="2000" b="0" dirty="0"/>
                        <a:t>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Accesses all elements with a specified name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7D5782E8-24E6-DC26-CB45-901F945A78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3388670"/>
              </p:ext>
            </p:extLst>
          </p:nvPr>
        </p:nvGraphicFramePr>
        <p:xfrm>
          <a:off x="473814" y="4053164"/>
          <a:ext cx="10349696" cy="42062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62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err="1"/>
                        <a:t>getElementsByTagName</a:t>
                      </a:r>
                      <a:r>
                        <a:rPr lang="en-US" sz="2000" b="0" dirty="0"/>
                        <a:t>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Accesses all elements with a specified tag name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FEA0A550-2D30-D2A5-30E6-CFDE12ED6C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7699593"/>
              </p:ext>
            </p:extLst>
          </p:nvPr>
        </p:nvGraphicFramePr>
        <p:xfrm>
          <a:off x="473813" y="4478266"/>
          <a:ext cx="10349696" cy="67970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062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err="1"/>
                        <a:t>setTimeout</a:t>
                      </a:r>
                      <a:r>
                        <a:rPr lang="en-US" sz="2000" b="0" dirty="0"/>
                        <a:t>(),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 err="1"/>
                        <a:t>clearTimeout</a:t>
                      </a:r>
                      <a:r>
                        <a:rPr lang="en-US" sz="2000" b="0" dirty="0"/>
                        <a:t>()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/>
                        <a:t>Set a time period for calling</a:t>
                      </a:r>
                      <a:r>
                        <a:rPr lang="en-US" sz="2000" b="0" baseline="0" dirty="0"/>
                        <a:t> a function once; or cancel it.</a:t>
                      </a:r>
                      <a:endParaRPr lang="en-US" sz="2000" b="0" dirty="0"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 anchor="b"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5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getElementById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suppose to get the </a:t>
            </a:r>
            <a:r>
              <a:rPr lang="en-US" dirty="0">
                <a:solidFill>
                  <a:srgbClr val="C00000"/>
                </a:solidFill>
              </a:rPr>
              <a:t>reference of the element </a:t>
            </a:r>
            <a:r>
              <a:rPr lang="en-US" dirty="0"/>
              <a:t>from </a:t>
            </a:r>
            <a:r>
              <a:rPr lang="en-US" dirty="0">
                <a:solidFill>
                  <a:srgbClr val="C00000"/>
                </a:solidFill>
              </a:rPr>
              <a:t>HTML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</a:rPr>
              <a:t>JavaScript</a:t>
            </a:r>
            <a:r>
              <a:rPr lang="en-US" dirty="0"/>
              <a:t> using </a:t>
            </a:r>
            <a:r>
              <a:rPr lang="en-US" dirty="0">
                <a:solidFill>
                  <a:srgbClr val="C00000"/>
                </a:solidFill>
              </a:rPr>
              <a:t>id specified</a:t>
            </a:r>
            <a:r>
              <a:rPr lang="en-US" dirty="0"/>
              <a:t> in the </a:t>
            </a:r>
            <a:r>
              <a:rPr lang="en-US" dirty="0">
                <a:solidFill>
                  <a:srgbClr val="C00000"/>
                </a:solidFill>
              </a:rPr>
              <a:t>HTML</a:t>
            </a:r>
            <a:r>
              <a:rPr lang="en-US" dirty="0"/>
              <a:t> we can use this method.</a:t>
            </a:r>
          </a:p>
          <a:p>
            <a:r>
              <a:rPr lang="en-US" dirty="0"/>
              <a:t>The most common way to access an </a:t>
            </a:r>
            <a:r>
              <a:rPr lang="en-US" dirty="0">
                <a:solidFill>
                  <a:srgbClr val="C00000"/>
                </a:solidFill>
              </a:rPr>
              <a:t>HTML element </a:t>
            </a:r>
            <a:r>
              <a:rPr lang="en-US" dirty="0"/>
              <a:t>is to use the</a:t>
            </a:r>
            <a:r>
              <a:rPr lang="en-US" dirty="0">
                <a:solidFill>
                  <a:srgbClr val="C00000"/>
                </a:solidFill>
              </a:rPr>
              <a:t> id of the element</a:t>
            </a:r>
            <a:r>
              <a:rPr lang="en-US" dirty="0"/>
              <a:t>.</a:t>
            </a:r>
          </a:p>
          <a:p>
            <a:r>
              <a:rPr lang="en-US" dirty="0"/>
              <a:t>In the example above the </a:t>
            </a:r>
            <a:r>
              <a:rPr lang="en-US" dirty="0" err="1">
                <a:solidFill>
                  <a:srgbClr val="C00000"/>
                </a:solidFill>
              </a:rPr>
              <a:t>getElementById</a:t>
            </a:r>
            <a:r>
              <a:rPr lang="en-US" dirty="0"/>
              <a:t> method used </a:t>
            </a:r>
            <a:r>
              <a:rPr lang="en-US" dirty="0">
                <a:solidFill>
                  <a:srgbClr val="C00000"/>
                </a:solidFill>
              </a:rPr>
              <a:t>id="demo" </a:t>
            </a:r>
            <a:r>
              <a:rPr lang="en-US" dirty="0"/>
              <a:t>to find the element.</a:t>
            </a:r>
          </a:p>
          <a:p>
            <a:r>
              <a:rPr lang="en-US" dirty="0"/>
              <a:t>The easiest way to get the content of an element is by using the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 err="1">
                <a:solidFill>
                  <a:srgbClr val="C00000"/>
                </a:solidFill>
              </a:rPr>
              <a:t>innerHTML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property.</a:t>
            </a:r>
          </a:p>
          <a:p>
            <a:r>
              <a:rPr lang="en-US" dirty="0"/>
              <a:t>The </a:t>
            </a:r>
            <a:r>
              <a:rPr lang="en-US" dirty="0" err="1"/>
              <a:t>innerHTML</a:t>
            </a:r>
            <a:r>
              <a:rPr lang="en-US" dirty="0"/>
              <a:t> property is useful for getting or replacing the content of HTML elements.</a:t>
            </a:r>
          </a:p>
          <a:p>
            <a:r>
              <a:rPr lang="en-US" dirty="0"/>
              <a:t>Example :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08037" y="4055564"/>
            <a:ext cx="6804518" cy="1631216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JavaScript</a:t>
            </a:r>
            <a:endParaRPr lang="en-US" sz="2000" dirty="0"/>
          </a:p>
          <a:p>
            <a:r>
              <a:rPr lang="en-US" sz="2000" dirty="0"/>
              <a:t>&lt;script&gt; 	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document.getElementById</a:t>
            </a:r>
            <a:r>
              <a:rPr lang="en-US" sz="2000" dirty="0"/>
              <a:t>("demo").</a:t>
            </a:r>
            <a:r>
              <a:rPr lang="en-US" sz="2000" dirty="0" err="1"/>
              <a:t>innerHTML</a:t>
            </a:r>
            <a:r>
              <a:rPr lang="en-US" sz="2000" dirty="0"/>
              <a:t> = "Hello   World!"; </a:t>
            </a:r>
          </a:p>
          <a:p>
            <a:r>
              <a:rPr lang="en-US" sz="2000" dirty="0"/>
              <a:t>&lt;/script&gt;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998" y="4055564"/>
            <a:ext cx="3953933" cy="193899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HTML</a:t>
            </a:r>
            <a:endParaRPr lang="en-US" sz="2000" dirty="0"/>
          </a:p>
          <a:p>
            <a:r>
              <a:rPr lang="en-US" sz="2000" dirty="0"/>
              <a:t>&lt;html&gt;</a:t>
            </a:r>
          </a:p>
          <a:p>
            <a:r>
              <a:rPr lang="en-US" sz="2000" dirty="0"/>
              <a:t>    &lt;body&gt;</a:t>
            </a:r>
          </a:p>
          <a:p>
            <a:r>
              <a:rPr lang="en-US" sz="2000" dirty="0"/>
              <a:t>        &lt;input type=“text” id=“demo”&gt;</a:t>
            </a:r>
          </a:p>
          <a:p>
            <a:r>
              <a:rPr lang="en-US" sz="2000" dirty="0"/>
              <a:t>    &lt;/body&gt;</a:t>
            </a:r>
          </a:p>
          <a:p>
            <a:r>
              <a:rPr lang="en-US" sz="20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93546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getElementsByName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suppose to get the reference of the elements from HTML in JavaScript using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 specified in the </a:t>
            </a:r>
            <a:r>
              <a:rPr lang="en-US" dirty="0">
                <a:solidFill>
                  <a:srgbClr val="C00000"/>
                </a:solidFill>
              </a:rPr>
              <a:t>HTML</a:t>
            </a:r>
            <a:r>
              <a:rPr lang="en-US" dirty="0"/>
              <a:t> we can use this method.</a:t>
            </a:r>
          </a:p>
          <a:p>
            <a:r>
              <a:rPr lang="en-US" dirty="0"/>
              <a:t>It will return the array of elements with the provided name.</a:t>
            </a:r>
          </a:p>
          <a:p>
            <a:r>
              <a:rPr lang="en-US" dirty="0"/>
              <a:t>Example 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2316" y="2570018"/>
            <a:ext cx="5878484" cy="378565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HTML</a:t>
            </a:r>
            <a:endParaRPr lang="en-US" sz="2000" dirty="0"/>
          </a:p>
          <a:p>
            <a:r>
              <a:rPr lang="en-US" sz="2000" dirty="0"/>
              <a:t>&lt;h1&gt;The Document Object&lt;/h1&gt;</a:t>
            </a:r>
          </a:p>
          <a:p>
            <a:r>
              <a:rPr lang="en-US" sz="2000" dirty="0"/>
              <a:t>&lt;h2&gt;The </a:t>
            </a:r>
            <a:r>
              <a:rPr lang="en-US" sz="2000" dirty="0" err="1"/>
              <a:t>document.getElementsByName</a:t>
            </a:r>
            <a:r>
              <a:rPr lang="en-US" sz="2000" dirty="0"/>
              <a:t> Method&lt;/h2&gt;</a:t>
            </a:r>
          </a:p>
          <a:p>
            <a:endParaRPr lang="en-US" sz="2000" dirty="0"/>
          </a:p>
          <a:p>
            <a:r>
              <a:rPr lang="en-US" sz="2000" dirty="0"/>
              <a:t>Cats:</a:t>
            </a:r>
          </a:p>
          <a:p>
            <a:r>
              <a:rPr lang="en-US" sz="2000" dirty="0"/>
              <a:t>&lt;input name="animal" type="checkbox" value="Cats"&gt;</a:t>
            </a:r>
          </a:p>
          <a:p>
            <a:r>
              <a:rPr lang="en-US" sz="2000" dirty="0"/>
              <a:t>Dogs:</a:t>
            </a:r>
          </a:p>
          <a:p>
            <a:r>
              <a:rPr lang="en-US" sz="2000" dirty="0"/>
              <a:t>&lt;input name="animal" type="checkbox" value="Dogs"&gt;</a:t>
            </a:r>
          </a:p>
          <a:p>
            <a:r>
              <a:rPr lang="en-US" sz="2000" dirty="0"/>
              <a:t>Apple</a:t>
            </a:r>
          </a:p>
          <a:p>
            <a:r>
              <a:rPr lang="en-US" sz="2000" dirty="0"/>
              <a:t>&lt;input name="fruit" type="checkbox" value="Apple"&gt;</a:t>
            </a:r>
          </a:p>
          <a:p>
            <a:r>
              <a:rPr lang="en-US" sz="2000" dirty="0"/>
              <a:t>&lt;p&gt;Check the checkboxes that have a name="animal":&lt;/p&gt;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9325" y="2570018"/>
            <a:ext cx="4701618" cy="3170099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JavaScript</a:t>
            </a:r>
            <a:endParaRPr lang="en-US" sz="2000" dirty="0"/>
          </a:p>
          <a:p>
            <a:r>
              <a:rPr lang="en-US" sz="2000" dirty="0"/>
              <a:t>&lt;script&gt;</a:t>
            </a:r>
          </a:p>
          <a:p>
            <a:r>
              <a:rPr lang="en-US" sz="2000" dirty="0" err="1"/>
              <a:t>const</a:t>
            </a:r>
            <a:r>
              <a:rPr lang="en-US" sz="2000" dirty="0"/>
              <a:t> collection = </a:t>
            </a:r>
            <a:r>
              <a:rPr lang="en-US" sz="2000" dirty="0" err="1"/>
              <a:t>document.getElementsByName</a:t>
            </a:r>
            <a:r>
              <a:rPr lang="en-US" sz="2000" dirty="0"/>
              <a:t>("animal");</a:t>
            </a:r>
          </a:p>
          <a:p>
            <a:r>
              <a:rPr lang="en-US" sz="2000" dirty="0"/>
              <a:t>for (let i = 0; i &lt; </a:t>
            </a:r>
            <a:r>
              <a:rPr lang="en-US" sz="2000" dirty="0" err="1"/>
              <a:t>collection.length</a:t>
            </a:r>
            <a:r>
              <a:rPr lang="en-US" sz="2000" dirty="0"/>
              <a:t>; i++) {</a:t>
            </a:r>
          </a:p>
          <a:p>
            <a:r>
              <a:rPr lang="en-US" sz="2000" dirty="0"/>
              <a:t>  if (collection[i].type == "checkbox") {</a:t>
            </a:r>
          </a:p>
          <a:p>
            <a:r>
              <a:rPr lang="en-US" sz="2000" dirty="0"/>
              <a:t>    collection[i].checked = true;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00839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getElementsByTagName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suppose to get the </a:t>
            </a:r>
            <a:r>
              <a:rPr lang="en-US" dirty="0">
                <a:solidFill>
                  <a:srgbClr val="C00000"/>
                </a:solidFill>
              </a:rPr>
              <a:t>reference of the elements </a:t>
            </a:r>
            <a:r>
              <a:rPr lang="en-US" dirty="0"/>
              <a:t>from </a:t>
            </a:r>
            <a:r>
              <a:rPr lang="en-US" dirty="0">
                <a:solidFill>
                  <a:srgbClr val="C00000"/>
                </a:solidFill>
              </a:rPr>
              <a:t>HTML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</a:rPr>
              <a:t>JavaScript</a:t>
            </a:r>
            <a:r>
              <a:rPr lang="en-US" dirty="0"/>
              <a:t> using </a:t>
            </a:r>
            <a:r>
              <a:rPr lang="en-US" dirty="0">
                <a:solidFill>
                  <a:srgbClr val="C00000"/>
                </a:solidFill>
              </a:rPr>
              <a:t>name of the tag</a:t>
            </a:r>
            <a:r>
              <a:rPr lang="en-US" dirty="0"/>
              <a:t> specified in the </a:t>
            </a:r>
            <a:r>
              <a:rPr lang="en-US" dirty="0">
                <a:solidFill>
                  <a:srgbClr val="C00000"/>
                </a:solidFill>
              </a:rPr>
              <a:t>HTML </a:t>
            </a:r>
            <a:r>
              <a:rPr lang="en-US" dirty="0"/>
              <a:t>we can use this method.</a:t>
            </a:r>
          </a:p>
          <a:p>
            <a:r>
              <a:rPr lang="en-US" dirty="0"/>
              <a:t>It will return the array of elements with the provided tag name.</a:t>
            </a:r>
          </a:p>
          <a:p>
            <a:r>
              <a:rPr lang="en-US" dirty="0"/>
              <a:t>Example 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15389" y="2579716"/>
            <a:ext cx="4114800" cy="2554545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HTML</a:t>
            </a:r>
            <a:endParaRPr lang="en-US" sz="2000" dirty="0"/>
          </a:p>
          <a:p>
            <a:r>
              <a:rPr lang="en-US" sz="2000" dirty="0"/>
              <a:t>&lt;html&gt;</a:t>
            </a:r>
          </a:p>
          <a:p>
            <a:r>
              <a:rPr lang="en-US" sz="2000" dirty="0"/>
              <a:t>    &lt;body&gt;</a:t>
            </a:r>
          </a:p>
          <a:p>
            <a:r>
              <a:rPr lang="en-US" sz="2000" dirty="0"/>
              <a:t>        &lt;input type=“text” name=“</a:t>
            </a:r>
            <a:r>
              <a:rPr lang="en-US" sz="2000" dirty="0" err="1"/>
              <a:t>uname</a:t>
            </a:r>
            <a:r>
              <a:rPr lang="en-US" sz="2000" dirty="0"/>
              <a:t>”&gt;</a:t>
            </a:r>
          </a:p>
          <a:p>
            <a:r>
              <a:rPr lang="en-US" sz="2000" dirty="0"/>
              <a:t>        &lt;input type=“text” name=“</a:t>
            </a:r>
            <a:r>
              <a:rPr lang="en-US" sz="2000" dirty="0" err="1"/>
              <a:t>pword</a:t>
            </a:r>
            <a:r>
              <a:rPr lang="en-US" sz="2000" dirty="0"/>
              <a:t>”&gt;</a:t>
            </a:r>
          </a:p>
          <a:p>
            <a:r>
              <a:rPr lang="en-US" sz="2000" dirty="0"/>
              <a:t>    &lt;/body&gt;</a:t>
            </a:r>
          </a:p>
          <a:p>
            <a:r>
              <a:rPr lang="en-US" sz="2000" dirty="0"/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4398" y="2579716"/>
            <a:ext cx="4724400" cy="3170099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JavaScript</a:t>
            </a:r>
            <a:endParaRPr lang="en-US" sz="2000" dirty="0"/>
          </a:p>
          <a:p>
            <a:r>
              <a:rPr lang="en-US" sz="2000" dirty="0"/>
              <a:t>&lt;script&gt;</a:t>
            </a:r>
          </a:p>
          <a:p>
            <a:r>
              <a:rPr lang="en-US" sz="2000" dirty="0"/>
              <a:t>function </a:t>
            </a:r>
            <a:r>
              <a:rPr lang="en-US" sz="2000" dirty="0" err="1"/>
              <a:t>myFunction</a:t>
            </a:r>
            <a:r>
              <a:rPr lang="en-US" sz="2000" dirty="0"/>
              <a:t>() {</a:t>
            </a:r>
          </a:p>
          <a:p>
            <a:r>
              <a:rPr lang="en-US" sz="2000" dirty="0"/>
              <a:t>  a=</a:t>
            </a:r>
            <a:r>
              <a:rPr lang="en-US" sz="2000" dirty="0" err="1"/>
              <a:t>document.getElementsByTagName</a:t>
            </a:r>
            <a:r>
              <a:rPr lang="en-US" sz="2000" dirty="0"/>
              <a:t>(“input”);</a:t>
            </a:r>
          </a:p>
          <a:p>
            <a:r>
              <a:rPr lang="en-US" sz="2000" dirty="0"/>
              <a:t>  alert(a[0].value);</a:t>
            </a:r>
          </a:p>
          <a:p>
            <a:r>
              <a:rPr lang="en-US" sz="2000" dirty="0"/>
              <a:t>  alert(a[1].value);</a:t>
            </a:r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182056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 using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access the elements of form in </a:t>
            </a:r>
            <a:r>
              <a:rPr lang="en-US" dirty="0">
                <a:solidFill>
                  <a:srgbClr val="C00000"/>
                </a:solidFill>
              </a:rPr>
              <a:t>DOM</a:t>
            </a:r>
            <a:r>
              <a:rPr lang="en-US" dirty="0"/>
              <a:t> quite easily using the </a:t>
            </a:r>
            <a:r>
              <a:rPr lang="en-US" dirty="0">
                <a:solidFill>
                  <a:srgbClr val="C00000"/>
                </a:solidFill>
              </a:rPr>
              <a:t>name/id </a:t>
            </a:r>
            <a:r>
              <a:rPr lang="en-US" dirty="0"/>
              <a:t>of the </a:t>
            </a:r>
            <a:r>
              <a:rPr lang="en-US" dirty="0">
                <a:solidFill>
                  <a:srgbClr val="C00000"/>
                </a:solidFill>
              </a:rPr>
              <a:t>form</a:t>
            </a:r>
            <a:r>
              <a:rPr lang="en-US" dirty="0"/>
              <a:t>.</a:t>
            </a:r>
          </a:p>
          <a:p>
            <a:r>
              <a:rPr lang="en-US" dirty="0"/>
              <a:t>Example 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69422" y="1808018"/>
            <a:ext cx="4114800" cy="378565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HTML</a:t>
            </a:r>
            <a:endParaRPr lang="en-US" sz="2000" dirty="0"/>
          </a:p>
          <a:p>
            <a:r>
              <a:rPr lang="en-US" sz="2000" dirty="0"/>
              <a:t>&lt;html&gt;</a:t>
            </a:r>
          </a:p>
          <a:p>
            <a:r>
              <a:rPr lang="en-US" sz="2000" dirty="0"/>
              <a:t>    &lt;body&gt;</a:t>
            </a:r>
          </a:p>
          <a:p>
            <a:r>
              <a:rPr lang="en-US" sz="2000" dirty="0"/>
              <a:t>      &lt;form name=“</a:t>
            </a:r>
            <a:r>
              <a:rPr lang="en-US" sz="2000" dirty="0" err="1"/>
              <a:t>myForm</a:t>
            </a:r>
            <a:r>
              <a:rPr lang="en-US" sz="2000" dirty="0"/>
              <a:t>”&gt;</a:t>
            </a:r>
          </a:p>
          <a:p>
            <a:r>
              <a:rPr lang="en-US" sz="2000" dirty="0"/>
              <a:t>        &lt;input type=“text” name=“</a:t>
            </a:r>
            <a:r>
              <a:rPr lang="en-US" sz="2000" dirty="0" err="1"/>
              <a:t>uname</a:t>
            </a:r>
            <a:r>
              <a:rPr lang="en-US" sz="2000" dirty="0"/>
              <a:t>”&gt;</a:t>
            </a:r>
          </a:p>
          <a:p>
            <a:r>
              <a:rPr lang="en-US" sz="2000" dirty="0"/>
              <a:t>        &lt;input type=“text” name=“</a:t>
            </a:r>
            <a:r>
              <a:rPr lang="en-US" sz="2000" dirty="0" err="1"/>
              <a:t>pword</a:t>
            </a:r>
            <a:r>
              <a:rPr lang="en-US" sz="2000" dirty="0"/>
              <a:t>”&gt;</a:t>
            </a:r>
          </a:p>
          <a:p>
            <a:r>
              <a:rPr lang="en-US" sz="2000" dirty="0"/>
              <a:t>        &lt;input type=“button” </a:t>
            </a:r>
            <a:r>
              <a:rPr lang="en-US" sz="2000" dirty="0" err="1"/>
              <a:t>onClick</a:t>
            </a:r>
            <a:r>
              <a:rPr lang="en-US" sz="2000" dirty="0"/>
              <a:t>=“f()”&gt;</a:t>
            </a:r>
          </a:p>
          <a:p>
            <a:r>
              <a:rPr lang="en-US" sz="2000" dirty="0"/>
              <a:t>     &lt;/form&gt;</a:t>
            </a:r>
          </a:p>
          <a:p>
            <a:r>
              <a:rPr lang="en-US" sz="2000" dirty="0"/>
              <a:t>    &lt;/body&gt;</a:t>
            </a:r>
          </a:p>
          <a:p>
            <a:r>
              <a:rPr lang="en-US" sz="2000" dirty="0"/>
              <a:t>&lt;/html&gt;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71011" y="1808018"/>
            <a:ext cx="4114800" cy="470898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JS</a:t>
            </a:r>
            <a:endParaRPr lang="en-US" sz="2000" dirty="0"/>
          </a:p>
          <a:p>
            <a:r>
              <a:rPr lang="en-US" sz="2000" dirty="0"/>
              <a:t>function f()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var</a:t>
            </a:r>
            <a:r>
              <a:rPr lang="en-US" sz="2000" dirty="0"/>
              <a:t> a = </a:t>
            </a:r>
            <a:r>
              <a:rPr lang="en-US" sz="2000" dirty="0" err="1"/>
              <a:t>document.forms</a:t>
            </a:r>
            <a:r>
              <a:rPr lang="en-US" sz="2000" dirty="0"/>
              <a:t>[“</a:t>
            </a:r>
            <a:r>
              <a:rPr lang="en-US" sz="2000" dirty="0" err="1"/>
              <a:t>myForm</a:t>
            </a:r>
            <a:r>
              <a:rPr lang="en-US" sz="2000" dirty="0"/>
              <a:t>”];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var</a:t>
            </a:r>
            <a:r>
              <a:rPr lang="en-US" sz="2000" dirty="0"/>
              <a:t> u = </a:t>
            </a:r>
            <a:r>
              <a:rPr lang="en-US" sz="2000" dirty="0" err="1"/>
              <a:t>a.uname.value</a:t>
            </a:r>
            <a:r>
              <a:rPr lang="en-US" sz="2000" dirty="0"/>
              <a:t>;</a:t>
            </a:r>
          </a:p>
          <a:p>
            <a:r>
              <a:rPr lang="en-US" sz="2000" dirty="0"/>
              <a:t>   </a:t>
            </a:r>
            <a:r>
              <a:rPr lang="en-US" sz="2000" dirty="0" err="1"/>
              <a:t>var</a:t>
            </a:r>
            <a:r>
              <a:rPr lang="en-US" sz="2000" dirty="0"/>
              <a:t> p = </a:t>
            </a:r>
            <a:r>
              <a:rPr lang="en-US" sz="2000" dirty="0" err="1"/>
              <a:t>a.pword.value</a:t>
            </a:r>
            <a:r>
              <a:rPr lang="en-US" sz="2000" dirty="0"/>
              <a:t>;</a:t>
            </a:r>
          </a:p>
          <a:p>
            <a:r>
              <a:rPr lang="en-US" sz="2000" dirty="0"/>
              <a:t>   if(u==“admin” &amp;&amp; p==“123”)</a:t>
            </a:r>
          </a:p>
          <a:p>
            <a:r>
              <a:rPr lang="en-US" sz="2000" dirty="0"/>
              <a:t>   {</a:t>
            </a:r>
          </a:p>
          <a:p>
            <a:r>
              <a:rPr lang="en-US" sz="2000" dirty="0"/>
              <a:t>      alert(“valid”);</a:t>
            </a:r>
          </a:p>
          <a:p>
            <a:r>
              <a:rPr lang="en-US" sz="2000" dirty="0"/>
              <a:t>   }</a:t>
            </a:r>
          </a:p>
          <a:p>
            <a:r>
              <a:rPr lang="en-US" sz="2000" dirty="0"/>
              <a:t>   else</a:t>
            </a:r>
          </a:p>
          <a:p>
            <a:r>
              <a:rPr lang="en-US" sz="2000" dirty="0"/>
              <a:t>   {</a:t>
            </a:r>
          </a:p>
          <a:p>
            <a:r>
              <a:rPr lang="en-US" sz="2000" dirty="0"/>
              <a:t>       alert(“Invalid”);</a:t>
            </a:r>
          </a:p>
          <a:p>
            <a:r>
              <a:rPr lang="en-US" sz="2000" dirty="0"/>
              <a:t>   }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674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DHTML – Combining HTML,CSS &amp;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DHTML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Dynamic HTML </a:t>
            </a:r>
            <a:r>
              <a:rPr lang="en-US" dirty="0"/>
              <a:t>is a </a:t>
            </a:r>
            <a:r>
              <a:rPr lang="en-US" dirty="0">
                <a:solidFill>
                  <a:srgbClr val="C00000"/>
                </a:solidFill>
              </a:rPr>
              <a:t>combination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HTML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JavaScript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CSS</a:t>
            </a:r>
            <a:r>
              <a:rPr lang="en-US" dirty="0"/>
              <a:t>.</a:t>
            </a:r>
          </a:p>
          <a:p>
            <a:r>
              <a:rPr lang="en-US" dirty="0"/>
              <a:t>The main problem with DHTML, which was introduced in the 4.0 series of browsers, is </a:t>
            </a:r>
            <a:r>
              <a:rPr lang="en-US" dirty="0">
                <a:solidFill>
                  <a:srgbClr val="C00000"/>
                </a:solidFill>
              </a:rPr>
              <a:t>compatibility</a:t>
            </a:r>
            <a:r>
              <a:rPr lang="en-US" dirty="0"/>
              <a:t>.</a:t>
            </a:r>
          </a:p>
          <a:p>
            <a:r>
              <a:rPr lang="en-US" dirty="0"/>
              <a:t>The main focus generally when speaking of DHTML is animation and other such dynamic effects.</a:t>
            </a:r>
          </a:p>
          <a:p>
            <a:r>
              <a:rPr lang="en-US" dirty="0"/>
              <a:t>We can obtain reference of any HTML or CSS element in </a:t>
            </a:r>
            <a:r>
              <a:rPr lang="en-US" dirty="0" err="1"/>
              <a:t>JavaSCript</a:t>
            </a:r>
            <a:r>
              <a:rPr lang="en-US" dirty="0"/>
              <a:t> using below 3 methods.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document.getElementById</a:t>
            </a:r>
            <a:r>
              <a:rPr lang="en-US" sz="2200" dirty="0"/>
              <a:t>(“</a:t>
            </a:r>
            <a:r>
              <a:rPr lang="en-US" sz="2200" dirty="0" err="1"/>
              <a:t>IdOfElement</a:t>
            </a:r>
            <a:r>
              <a:rPr lang="en-US" sz="2200" dirty="0"/>
              <a:t>”)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document.getElementsByName</a:t>
            </a:r>
            <a:r>
              <a:rPr lang="en-US" sz="2200" dirty="0"/>
              <a:t>(“</a:t>
            </a:r>
            <a:r>
              <a:rPr lang="en-US" sz="2200" dirty="0" err="1"/>
              <a:t>NameOfElement</a:t>
            </a:r>
            <a:r>
              <a:rPr lang="en-US" sz="2200" dirty="0"/>
              <a:t>”)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document.getElementsByTagName</a:t>
            </a:r>
            <a:r>
              <a:rPr lang="en-US" sz="2200" dirty="0"/>
              <a:t>(“</a:t>
            </a:r>
            <a:r>
              <a:rPr lang="en-US" sz="2200" dirty="0" err="1"/>
              <a:t>TagName</a:t>
            </a:r>
            <a:r>
              <a:rPr lang="en-US" sz="2200" dirty="0"/>
              <a:t>”)</a:t>
            </a:r>
          </a:p>
          <a:p>
            <a:pPr marL="514350" indent="-457200"/>
            <a:r>
              <a:rPr lang="en-US" dirty="0"/>
              <a:t>After obtaining the reference of the element you can change the attributes of the same using </a:t>
            </a:r>
            <a:r>
              <a:rPr lang="en-US" dirty="0" err="1">
                <a:solidFill>
                  <a:srgbClr val="C00000"/>
                </a:solidFill>
              </a:rPr>
              <a:t>reference.attribute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syntax</a:t>
            </a:r>
          </a:p>
          <a:p>
            <a:pPr marL="514350" indent="-457200"/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3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E20EC-C2D8-6EEC-CFAF-B49A45EAD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540F-60D9-A175-9D71-C603405E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DHTML – Combining HTML,CSS &amp;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C7F0A-CFAB-DAEC-DC87-BCF0CD277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457200"/>
            <a:r>
              <a:rPr lang="en-US" dirty="0"/>
              <a:t>For Example :</a:t>
            </a:r>
          </a:p>
          <a:p>
            <a:pPr marL="514350" indent="-457200"/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F13AA-9899-D995-5431-3B2DE1E3CA1E}"/>
              </a:ext>
            </a:extLst>
          </p:cNvPr>
          <p:cNvSpPr txBox="1"/>
          <p:nvPr/>
        </p:nvSpPr>
        <p:spPr>
          <a:xfrm>
            <a:off x="751566" y="1488070"/>
            <a:ext cx="3429000" cy="1015663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HTML Code</a:t>
            </a:r>
          </a:p>
          <a:p>
            <a:pPr algn="ctr"/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&lt;</a:t>
            </a:r>
            <a:r>
              <a:rPr lang="en-US" sz="2000" dirty="0" err="1"/>
              <a:t>img</a:t>
            </a:r>
            <a:r>
              <a:rPr lang="en-US" sz="2000" dirty="0"/>
              <a:t> </a:t>
            </a:r>
            <a:r>
              <a:rPr lang="en-US" sz="2000" dirty="0" err="1"/>
              <a:t>src</a:t>
            </a:r>
            <a:r>
              <a:rPr lang="en-US" sz="2000" dirty="0"/>
              <a:t>=“abc.jpg” id=“</a:t>
            </a:r>
            <a:r>
              <a:rPr lang="en-US" sz="2000" dirty="0" err="1"/>
              <a:t>myImg</a:t>
            </a:r>
            <a:r>
              <a:rPr lang="en-US" sz="2000" dirty="0"/>
              <a:t>”&gt;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BA9A0-1565-753D-2025-B29294E013E5}"/>
              </a:ext>
            </a:extLst>
          </p:cNvPr>
          <p:cNvSpPr txBox="1"/>
          <p:nvPr/>
        </p:nvSpPr>
        <p:spPr>
          <a:xfrm>
            <a:off x="751566" y="2943074"/>
            <a:ext cx="4828140" cy="193899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JS Code</a:t>
            </a:r>
          </a:p>
          <a:p>
            <a:pPr algn="ctr"/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&lt;script&gt;</a:t>
            </a:r>
          </a:p>
          <a:p>
            <a:r>
              <a:rPr lang="en-US" sz="2000" dirty="0"/>
              <a:t>   var a = </a:t>
            </a:r>
            <a:r>
              <a:rPr lang="en-US" sz="2000" dirty="0" err="1"/>
              <a:t>document.getElementById</a:t>
            </a:r>
            <a:r>
              <a:rPr lang="en-US" sz="2000" dirty="0"/>
              <a:t>(‘</a:t>
            </a:r>
            <a:r>
              <a:rPr lang="en-US" sz="2000" dirty="0" err="1"/>
              <a:t>myImg</a:t>
            </a:r>
            <a:r>
              <a:rPr lang="en-US" sz="2000" dirty="0"/>
              <a:t>’);</a:t>
            </a:r>
          </a:p>
          <a:p>
            <a:r>
              <a:rPr lang="en-US" sz="2000" dirty="0"/>
              <a:t>   </a:t>
            </a:r>
            <a:r>
              <a:rPr lang="en-US" sz="2000" b="1" dirty="0"/>
              <a:t>a.src</a:t>
            </a:r>
            <a:r>
              <a:rPr lang="en-US" sz="2000" dirty="0"/>
              <a:t>  = “xyz.jpg”;</a:t>
            </a:r>
          </a:p>
          <a:p>
            <a:r>
              <a:rPr lang="en-US" sz="20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019727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DHTML (Example)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8208" y="1070957"/>
            <a:ext cx="11755584" cy="4370427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JavaScript</a:t>
            </a:r>
            <a:endParaRPr lang="en-US" sz="2000" dirty="0"/>
          </a:p>
          <a:p>
            <a:r>
              <a:rPr lang="en-US" sz="2000" dirty="0"/>
              <a:t>&lt;html&gt;</a:t>
            </a:r>
          </a:p>
          <a:p>
            <a:r>
              <a:rPr lang="en-US" sz="2000" dirty="0"/>
              <a:t>     &lt;body&gt;</a:t>
            </a:r>
          </a:p>
          <a:p>
            <a:r>
              <a:rPr lang="en-US" sz="2000" dirty="0"/>
              <a:t>          &lt;div id=“</a:t>
            </a:r>
            <a:r>
              <a:rPr lang="en-US" sz="2000" dirty="0" err="1"/>
              <a:t>myDiv</a:t>
            </a:r>
            <a:r>
              <a:rPr lang="en-US" sz="2000" dirty="0"/>
              <a:t>”&gt;</a:t>
            </a:r>
          </a:p>
          <a:p>
            <a:r>
              <a:rPr lang="en-US" sz="2000" dirty="0"/>
              <a:t>	Red Alert !!!!!!</a:t>
            </a:r>
          </a:p>
          <a:p>
            <a:r>
              <a:rPr lang="en-US" sz="2000" dirty="0"/>
              <a:t>          &lt;/div&gt;</a:t>
            </a:r>
          </a:p>
          <a:p>
            <a:r>
              <a:rPr lang="en-US" sz="2000" dirty="0"/>
              <a:t>          &lt;script&gt;</a:t>
            </a:r>
          </a:p>
          <a:p>
            <a:r>
              <a:rPr lang="en-US" sz="2000" dirty="0"/>
              <a:t>             </a:t>
            </a: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/>
              <a:t>objDiv</a:t>
            </a:r>
            <a:r>
              <a:rPr lang="en-US" sz="2000" dirty="0"/>
              <a:t> = </a:t>
            </a:r>
            <a:r>
              <a:rPr lang="en-US" sz="2000" dirty="0" err="1"/>
              <a:t>document.getElementById</a:t>
            </a:r>
            <a:r>
              <a:rPr lang="en-US" sz="2000" dirty="0"/>
              <a:t>(“</a:t>
            </a:r>
            <a:r>
              <a:rPr lang="en-US" sz="2000" dirty="0" err="1"/>
              <a:t>myDiv</a:t>
            </a:r>
            <a:r>
              <a:rPr lang="en-US" sz="2000" dirty="0"/>
              <a:t>”);</a:t>
            </a:r>
          </a:p>
          <a:p>
            <a:r>
              <a:rPr lang="en-US" sz="2000" dirty="0"/>
              <a:t>             </a:t>
            </a:r>
            <a:r>
              <a:rPr lang="en-US" sz="2000" dirty="0" err="1"/>
              <a:t>var</a:t>
            </a:r>
            <a:r>
              <a:rPr lang="en-US" sz="2000" dirty="0"/>
              <a:t> colors = [‘</a:t>
            </a:r>
            <a:r>
              <a:rPr lang="en-US" sz="2000" dirty="0" err="1"/>
              <a:t>white’,’yellow’,’orange’,’red</a:t>
            </a:r>
            <a:r>
              <a:rPr lang="en-US" sz="2000" dirty="0"/>
              <a:t>’];</a:t>
            </a:r>
          </a:p>
          <a:p>
            <a:r>
              <a:rPr lang="en-US" sz="2000" dirty="0"/>
              <a:t>             </a:t>
            </a: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/>
              <a:t>nextColor</a:t>
            </a:r>
            <a:r>
              <a:rPr lang="en-US" sz="2000" dirty="0"/>
              <a:t> = 0;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setInterval</a:t>
            </a:r>
            <a:r>
              <a:rPr lang="en-US" sz="2000" dirty="0"/>
              <a:t>(“</a:t>
            </a:r>
            <a:r>
              <a:rPr lang="en-US" sz="2000" dirty="0" err="1"/>
              <a:t>objDiv.style.backgroundColor</a:t>
            </a:r>
            <a:r>
              <a:rPr lang="en-US" sz="2000" dirty="0"/>
              <a:t> = colors[</a:t>
            </a:r>
            <a:r>
              <a:rPr lang="en-US" sz="2000" dirty="0" err="1"/>
              <a:t>nextColor</a:t>
            </a:r>
            <a:r>
              <a:rPr lang="en-US" sz="2000" dirty="0"/>
              <a:t>++%</a:t>
            </a:r>
            <a:r>
              <a:rPr lang="en-US" sz="2000" dirty="0" err="1"/>
              <a:t>colors.length</a:t>
            </a:r>
            <a:r>
              <a:rPr lang="en-US" sz="2000" dirty="0"/>
              <a:t>];”,500);</a:t>
            </a:r>
          </a:p>
          <a:p>
            <a:r>
              <a:rPr lang="en-US" sz="2000" dirty="0"/>
              <a:t>          &lt;/script&gt;</a:t>
            </a:r>
          </a:p>
          <a:p>
            <a:r>
              <a:rPr lang="en-US" sz="2000" dirty="0"/>
              <a:t>     &lt;/body&gt;</a:t>
            </a:r>
          </a:p>
          <a:p>
            <a:r>
              <a:rPr lang="en-US" sz="20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4530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Element Properties</a:t>
            </a:r>
          </a:p>
        </p:txBody>
      </p:sp>
      <p:graphicFrame>
        <p:nvGraphicFramePr>
          <p:cNvPr id="13" name="Content Placeholder 3">
            <a:extLst>
              <a:ext uri="{FF2B5EF4-FFF2-40B4-BE49-F238E27FC236}">
                <a16:creationId xmlns:a16="http://schemas.microsoft.com/office/drawing/2014/main" id="{03CBEED6-B8EE-C72E-069E-7DCC1C630B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15440"/>
              </p:ext>
            </p:extLst>
          </p:nvPr>
        </p:nvGraphicFramePr>
        <p:xfrm>
          <a:off x="1506405" y="1196472"/>
          <a:ext cx="8057358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46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Event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dirty="0" err="1"/>
                        <a:t>className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Sets or returns the class attribute of an element</a:t>
                      </a:r>
                      <a:endParaRPr lang="en-US" sz="2000" dirty="0">
                        <a:latin typeface="+mn-lt"/>
                        <a:ea typeface="Calibri"/>
                        <a:cs typeface="Shrut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C1A70055-8521-ED0D-B781-A7F1C1086D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7669399"/>
              </p:ext>
            </p:extLst>
          </p:nvPr>
        </p:nvGraphicFramePr>
        <p:xfrm>
          <a:off x="1506405" y="1979621"/>
          <a:ext cx="8057358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46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id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Sets or returns the id of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2257920C-FCB9-155F-DA16-3076072713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1091487"/>
              </p:ext>
            </p:extLst>
          </p:nvPr>
        </p:nvGraphicFramePr>
        <p:xfrm>
          <a:off x="1506404" y="2373645"/>
          <a:ext cx="8057474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46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 err="1"/>
                        <a:t>innerHTML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Sets or returns the HTML contents (+text) of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88082DFB-6863-8BAA-9530-873860E55B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487655"/>
              </p:ext>
            </p:extLst>
          </p:nvPr>
        </p:nvGraphicFramePr>
        <p:xfrm>
          <a:off x="1506404" y="2767669"/>
          <a:ext cx="805819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46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1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style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Sets or returns the style attribute of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3">
            <a:extLst>
              <a:ext uri="{FF2B5EF4-FFF2-40B4-BE49-F238E27FC236}">
                <a16:creationId xmlns:a16="http://schemas.microsoft.com/office/drawing/2014/main" id="{A0771554-802C-B510-7621-27DFCF31D6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9557898"/>
              </p:ext>
            </p:extLst>
          </p:nvPr>
        </p:nvGraphicFramePr>
        <p:xfrm>
          <a:off x="1509514" y="3160530"/>
          <a:ext cx="8054363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42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1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dirty="0" err="1"/>
                        <a:t>tabIndex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dirty="0"/>
                        <a:t>Sets or returns the tab order of an element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Content Placeholder 3">
            <a:extLst>
              <a:ext uri="{FF2B5EF4-FFF2-40B4-BE49-F238E27FC236}">
                <a16:creationId xmlns:a16="http://schemas.microsoft.com/office/drawing/2014/main" id="{170D9600-6D96-6605-6489-68B3C21D90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5567134"/>
              </p:ext>
            </p:extLst>
          </p:nvPr>
        </p:nvGraphicFramePr>
        <p:xfrm>
          <a:off x="1509514" y="3535892"/>
          <a:ext cx="8054363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42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1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dirty="0"/>
                        <a:t>title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dirty="0"/>
                        <a:t>Sets or returns the title attribute of an element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BB5B2BDD-147B-4C22-CF83-DCA6953CCD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5163415"/>
              </p:ext>
            </p:extLst>
          </p:nvPr>
        </p:nvGraphicFramePr>
        <p:xfrm>
          <a:off x="1509514" y="3906970"/>
          <a:ext cx="8054364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84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1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/>
                        <a:t>value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dirty="0"/>
                        <a:t>Sets or returns the value attribute of an element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70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Mouse Events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4EA16D4A-12FF-1D6C-03A6-8EC1667FC2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971685"/>
              </p:ext>
            </p:extLst>
          </p:nvPr>
        </p:nvGraphicFramePr>
        <p:xfrm>
          <a:off x="619996" y="1233794"/>
          <a:ext cx="10800673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Event : Attribute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kern="1200" dirty="0"/>
                        <a:t>click : onclick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/>
                        <a:t>The event occurs when the user clicks on an element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4C46B02-A633-03BF-5BEF-4D5D6A0555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6921330"/>
              </p:ext>
            </p:extLst>
          </p:nvPr>
        </p:nvGraphicFramePr>
        <p:xfrm>
          <a:off x="619997" y="2026274"/>
          <a:ext cx="1080067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/>
                        <a:t>dblclick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kern="1200" dirty="0" err="1"/>
                        <a:t>ondblclick</a:t>
                      </a:r>
                      <a:r>
                        <a:rPr lang="en-US" sz="2000" b="0" kern="1200" dirty="0"/>
                        <a:t> 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/>
                        <a:t>The event occurs when the user double-clicks on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3BFDCC69-5F60-40CE-13FD-5E9D5F2283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6274092"/>
              </p:ext>
            </p:extLst>
          </p:nvPr>
        </p:nvGraphicFramePr>
        <p:xfrm>
          <a:off x="619995" y="2420298"/>
          <a:ext cx="1080082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/>
                        <a:t>mousedown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kern="1200" dirty="0" err="1"/>
                        <a:t>onmousedown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/>
                        <a:t>The event occurs when a user presses a mouse button over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0A94417-47D5-5771-83F7-080781F688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8435943"/>
              </p:ext>
            </p:extLst>
          </p:nvPr>
        </p:nvGraphicFramePr>
        <p:xfrm>
          <a:off x="619996" y="2814322"/>
          <a:ext cx="1079665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/>
                        <a:t>mousemove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kern="1200" dirty="0" err="1"/>
                        <a:t>onmousemove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/>
                        <a:t>The event occurs when a user moves the mouse pointer over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4BB12D0-62E3-C867-EDDE-8A96DBB900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5144275"/>
              </p:ext>
            </p:extLst>
          </p:nvPr>
        </p:nvGraphicFramePr>
        <p:xfrm>
          <a:off x="623106" y="3207183"/>
          <a:ext cx="1079665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4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/>
                        <a:t>mouseover : </a:t>
                      </a:r>
                      <a:r>
                        <a:rPr lang="en-US" sz="2000" b="0" kern="1200" dirty="0" err="1"/>
                        <a:t>onmouseover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/>
                        <a:t>The event occurs when a user mouse over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0F3C6E2B-A879-FD9D-569C-92A1C6EF49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258271"/>
              </p:ext>
            </p:extLst>
          </p:nvPr>
        </p:nvGraphicFramePr>
        <p:xfrm>
          <a:off x="623106" y="4002423"/>
          <a:ext cx="1079354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4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/>
                        <a:t>mouseout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kern="1200" dirty="0" err="1"/>
                        <a:t>onmouseout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/>
                        <a:t>The event occurs when a user moves the mouse pointer out of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123B2916-1225-403A-3221-0C5D516E3C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2545989"/>
              </p:ext>
            </p:extLst>
          </p:nvPr>
        </p:nvGraphicFramePr>
        <p:xfrm>
          <a:off x="623105" y="3599050"/>
          <a:ext cx="1079354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4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err="1"/>
                        <a:t>mouseup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kern="1200" dirty="0" err="1"/>
                        <a:t>onmouseup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/>
                        <a:t>The event occurs when a user releases a mouse button over an element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81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CD91D-3935-3C11-D604-4048DB133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0B90-048A-19D7-B392-76F4830BD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Keyboard Events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46CF8A82-A8D6-BC29-2C84-2152A24C3A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5116056"/>
              </p:ext>
            </p:extLst>
          </p:nvPr>
        </p:nvGraphicFramePr>
        <p:xfrm>
          <a:off x="619996" y="1233794"/>
          <a:ext cx="10800673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Event : Attribute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/>
                        <a:t>keydown</a:t>
                      </a:r>
                      <a:r>
                        <a:rPr lang="en-US" sz="2000" kern="1200" dirty="0"/>
                        <a:t> : </a:t>
                      </a:r>
                      <a:r>
                        <a:rPr lang="en-US" sz="2000" dirty="0" err="1"/>
                        <a:t>onkeydown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 event occurs when the user is pressing a key or holding down a key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08EBA09-B2BD-6522-1AAF-6175B6969C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6589046"/>
              </p:ext>
            </p:extLst>
          </p:nvPr>
        </p:nvGraphicFramePr>
        <p:xfrm>
          <a:off x="619997" y="2026274"/>
          <a:ext cx="10800672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keypress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onkeypress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The event occurs when the user is pressing a key or holding down a key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0C9744E-F66E-36DA-4CAB-CB1ECBD80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6613259"/>
              </p:ext>
            </p:extLst>
          </p:nvPr>
        </p:nvGraphicFramePr>
        <p:xfrm>
          <a:off x="619995" y="2420298"/>
          <a:ext cx="1080082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/>
                        <a:t>keyup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onkeyup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The event occurs when a keyboard key is released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72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A7D8-26A5-22DF-5371-54F6C1FE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B1D5-3AC7-4EB8-1102-45B3F304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Frame/Object Events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F38B0F6-756A-A363-E0DD-E635E0EA99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3624567"/>
              </p:ext>
            </p:extLst>
          </p:nvPr>
        </p:nvGraphicFramePr>
        <p:xfrm>
          <a:off x="619844" y="928994"/>
          <a:ext cx="10800673" cy="10972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Event : Attribute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abort</a:t>
                      </a:r>
                      <a:r>
                        <a:rPr lang="en-US" sz="2000" kern="1200" dirty="0"/>
                        <a:t> : </a:t>
                      </a:r>
                      <a:r>
                        <a:rPr lang="en-US" sz="2000" dirty="0" err="1"/>
                        <a:t>onabort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 event occurs when an image is stopped from loading before completely loaded (for &lt;object&gt;)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340C366-986B-E9D6-8409-A07306A4A8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285352"/>
              </p:ext>
            </p:extLst>
          </p:nvPr>
        </p:nvGraphicFramePr>
        <p:xfrm>
          <a:off x="619997" y="2026274"/>
          <a:ext cx="10800672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error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onerror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The event occurs when an image does not load properly (for &lt;object&gt;, &lt;body&gt; and &lt;frameset&gt;)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CEA9021-861A-158E-75EE-C617DDE26E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6602724"/>
              </p:ext>
            </p:extLst>
          </p:nvPr>
        </p:nvGraphicFramePr>
        <p:xfrm>
          <a:off x="619690" y="2727314"/>
          <a:ext cx="10800827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load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/>
                        <a:t>onload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The event occurs when a document, frameset, or &lt;object&gt; has been loaded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A99264-EB0A-6CD9-5657-FC0233B1EF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8205373"/>
              </p:ext>
            </p:extLst>
          </p:nvPr>
        </p:nvGraphicFramePr>
        <p:xfrm>
          <a:off x="623106" y="3428980"/>
          <a:ext cx="10800672" cy="47121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resize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onresize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The event occurs when a document view is resized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8899015-82C0-37BF-7142-D9C53A469B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289494"/>
              </p:ext>
            </p:extLst>
          </p:nvPr>
        </p:nvGraphicFramePr>
        <p:xfrm>
          <a:off x="622799" y="3906080"/>
          <a:ext cx="1080082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scroll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onscroll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The event occurs when a document view is scrolled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D0BB75A4-8DF3-5F71-AFC5-EA3416D6C3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541123"/>
              </p:ext>
            </p:extLst>
          </p:nvPr>
        </p:nvGraphicFramePr>
        <p:xfrm>
          <a:off x="622800" y="4316629"/>
          <a:ext cx="10800827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FF0000"/>
                          </a:solidFill>
                        </a:rPr>
                        <a:t>unload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>
                          <a:solidFill>
                            <a:srgbClr val="FF0000"/>
                          </a:solidFill>
                        </a:rPr>
                        <a:t>onunload</a:t>
                      </a:r>
                      <a:endParaRPr lang="en-US" sz="20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>
                          <a:solidFill>
                            <a:srgbClr val="FF0000"/>
                          </a:solidFill>
                        </a:rPr>
                        <a:t>The event occurs when a document is removed from a window or frame (for &lt;body&gt; and &lt;frameset&gt;)</a:t>
                      </a:r>
                      <a:endParaRPr lang="en-US" sz="20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4A2542-E401-647A-692A-FA71926AF4D6}"/>
              </a:ext>
            </a:extLst>
          </p:cNvPr>
          <p:cNvSpPr txBox="1"/>
          <p:nvPr/>
        </p:nvSpPr>
        <p:spPr>
          <a:xfrm>
            <a:off x="627482" y="5223886"/>
            <a:ext cx="8423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Note: Red </a:t>
            </a:r>
            <a:r>
              <a:rPr lang="en-IN" dirty="0" err="1">
                <a:solidFill>
                  <a:srgbClr val="FF0000"/>
                </a:solidFill>
              </a:rPr>
              <a:t>color</a:t>
            </a:r>
            <a:r>
              <a:rPr lang="en-IN" dirty="0">
                <a:solidFill>
                  <a:srgbClr val="FF0000"/>
                </a:solidFill>
              </a:rPr>
              <a:t> properties are deprecated and not supported in many browser versions</a:t>
            </a:r>
          </a:p>
        </p:txBody>
      </p:sp>
    </p:spTree>
    <p:extLst>
      <p:ext uri="{BB962C8B-B14F-4D97-AF65-F5344CB8AC3E}">
        <p14:creationId xmlns:p14="http://schemas.microsoft.com/office/powerpoint/2010/main" val="232916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35A08-BE68-1A71-D8AB-9D2136D4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3380-5BFB-7E83-684C-2B19F601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 Events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EF9AC987-A21E-858F-EA59-69AC841457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717777"/>
              </p:ext>
            </p:extLst>
          </p:nvPr>
        </p:nvGraphicFramePr>
        <p:xfrm>
          <a:off x="619844" y="928994"/>
          <a:ext cx="10800673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Event : Attribute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blur</a:t>
                      </a:r>
                      <a:r>
                        <a:rPr lang="en-US" sz="2000" kern="1200" dirty="0"/>
                        <a:t> : </a:t>
                      </a:r>
                      <a:r>
                        <a:rPr lang="en-US" sz="2000" dirty="0" err="1"/>
                        <a:t>onblur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The event occurs when a form element loses focus</a:t>
                      </a:r>
                      <a:endParaRPr lang="en-US" sz="2000" dirty="0">
                        <a:latin typeface="+mn-lt"/>
                        <a:ea typeface="Calibri"/>
                        <a:cs typeface="Shrut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5D3CA54-35A9-F4AA-2DDF-43F9DA7FCD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1362945"/>
              </p:ext>
            </p:extLst>
          </p:nvPr>
        </p:nvGraphicFramePr>
        <p:xfrm>
          <a:off x="619997" y="1718359"/>
          <a:ext cx="10800672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change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onchange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The event occurs when the content of a form element, the selection, or the checked state have changed (for &lt;input&gt;, &lt;select&gt;, and &lt;</a:t>
                      </a:r>
                      <a:r>
                        <a:rPr lang="en-US" sz="2000" b="0" dirty="0" err="1"/>
                        <a:t>textarea</a:t>
                      </a:r>
                      <a:r>
                        <a:rPr lang="en-US" sz="2000" b="0" dirty="0"/>
                        <a:t>&gt;)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4F1E5A5-F1BD-0F14-2ECC-819DFD0B34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6136414"/>
              </p:ext>
            </p:extLst>
          </p:nvPr>
        </p:nvGraphicFramePr>
        <p:xfrm>
          <a:off x="619690" y="2419399"/>
          <a:ext cx="10800827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focus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onfocus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The event occurs when an element gets focus (for &lt;label&gt;, &lt;input&gt;, &lt;select&gt;, </a:t>
                      </a:r>
                      <a:r>
                        <a:rPr lang="en-US" sz="2000" b="0" dirty="0" err="1"/>
                        <a:t>textarea</a:t>
                      </a:r>
                      <a:r>
                        <a:rPr lang="en-US" sz="2000" b="0" dirty="0"/>
                        <a:t>&gt;, and &lt;button&gt;)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51691E-81DB-6B6A-5EB3-F1A866EAD3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9074498"/>
              </p:ext>
            </p:extLst>
          </p:nvPr>
        </p:nvGraphicFramePr>
        <p:xfrm>
          <a:off x="623106" y="3121065"/>
          <a:ext cx="10800672" cy="47121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reset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onreset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The event occurs when a form is reset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F1F77D4-B9C4-4E4F-49B4-6ACF770DF1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703673"/>
              </p:ext>
            </p:extLst>
          </p:nvPr>
        </p:nvGraphicFramePr>
        <p:xfrm>
          <a:off x="622799" y="3598165"/>
          <a:ext cx="10800827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select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onselect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The event occurs when a user selects some  text (for &lt;input&gt; and &lt;</a:t>
                      </a:r>
                      <a:r>
                        <a:rPr lang="en-US" sz="2000" b="0" dirty="0" err="1"/>
                        <a:t>textarea</a:t>
                      </a:r>
                      <a:r>
                        <a:rPr lang="en-US" sz="2000" b="0" dirty="0"/>
                        <a:t>&gt;)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209C37B1-9036-23D3-C745-B617785871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2263201"/>
              </p:ext>
            </p:extLst>
          </p:nvPr>
        </p:nvGraphicFramePr>
        <p:xfrm>
          <a:off x="622800" y="4297961"/>
          <a:ext cx="10800827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177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3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submit</a:t>
                      </a:r>
                      <a:r>
                        <a:rPr lang="en-US" sz="2000" b="0" kern="1200" dirty="0"/>
                        <a:t> : </a:t>
                      </a:r>
                      <a:r>
                        <a:rPr lang="en-US" sz="2000" b="0" dirty="0" err="1"/>
                        <a:t>onsubmit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dirty="0"/>
                        <a:t>The event occurs when a form is submitted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292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Callbacks in </a:t>
            </a:r>
            <a:r>
              <a:rPr lang="en-US" dirty="0" err="1"/>
              <a:t>Javascript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51120" y="1536174"/>
            <a:ext cx="5230137" cy="378565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&lt;script type="text/</a:t>
            </a:r>
            <a:r>
              <a:rPr lang="en-US" sz="2000" dirty="0" err="1"/>
              <a:t>javascript</a:t>
            </a:r>
            <a:r>
              <a:rPr lang="en-US" sz="2000" dirty="0"/>
              <a:t>"&gt;</a:t>
            </a:r>
          </a:p>
          <a:p>
            <a:r>
              <a:rPr lang="en-US" sz="2000" dirty="0"/>
              <a:t>	function add(a, b, d, </a:t>
            </a:r>
            <a:r>
              <a:rPr lang="en-US" sz="2000" dirty="0" err="1"/>
              <a:t>nextFun</a:t>
            </a:r>
            <a:r>
              <a:rPr lang="en-US" sz="2000" dirty="0"/>
              <a:t>){</a:t>
            </a:r>
          </a:p>
          <a:p>
            <a:r>
              <a:rPr lang="en-US" sz="2000" dirty="0"/>
              <a:t>      		</a:t>
            </a:r>
            <a:r>
              <a:rPr lang="en-US" sz="2000" dirty="0" err="1"/>
              <a:t>ans</a:t>
            </a:r>
            <a:r>
              <a:rPr lang="en-US" sz="2000" dirty="0"/>
              <a:t> = a + b;</a:t>
            </a:r>
          </a:p>
          <a:p>
            <a:r>
              <a:rPr lang="en-US" sz="2000" dirty="0"/>
              <a:t>      		</a:t>
            </a:r>
            <a:r>
              <a:rPr lang="en-US" sz="2000" dirty="0" err="1"/>
              <a:t>nextFun</a:t>
            </a:r>
            <a:r>
              <a:rPr lang="en-US" sz="2000" dirty="0"/>
              <a:t>(</a:t>
            </a:r>
            <a:r>
              <a:rPr lang="en-US" sz="2000" dirty="0" err="1"/>
              <a:t>ans</a:t>
            </a:r>
            <a:r>
              <a:rPr lang="en-US" sz="2000" dirty="0"/>
              <a:t>, d);</a:t>
            </a:r>
          </a:p>
          <a:p>
            <a:r>
              <a:rPr lang="en-US" sz="2000" dirty="0"/>
              <a:t>      		return </a:t>
            </a:r>
            <a:r>
              <a:rPr lang="en-US" sz="2000" dirty="0" err="1"/>
              <a:t>ans</a:t>
            </a:r>
            <a:r>
              <a:rPr lang="en-US" sz="2000" dirty="0"/>
              <a:t>;</a:t>
            </a:r>
          </a:p>
          <a:p>
            <a:r>
              <a:rPr lang="en-US" sz="2000" dirty="0"/>
              <a:t>   	}</a:t>
            </a:r>
          </a:p>
          <a:p>
            <a:endParaRPr lang="en-US" sz="2000" dirty="0"/>
          </a:p>
          <a:p>
            <a:r>
              <a:rPr lang="en-US" sz="2000" dirty="0"/>
              <a:t>    	function </a:t>
            </a:r>
            <a:r>
              <a:rPr lang="en-US" sz="2000" dirty="0" err="1"/>
              <a:t>mul</a:t>
            </a:r>
            <a:r>
              <a:rPr lang="en-US" sz="2000" dirty="0"/>
              <a:t>(a, b){</a:t>
            </a:r>
          </a:p>
          <a:p>
            <a:r>
              <a:rPr lang="en-US" sz="2000" dirty="0"/>
              <a:t>      		</a:t>
            </a:r>
            <a:r>
              <a:rPr lang="en-US" sz="2000" dirty="0" err="1"/>
              <a:t>ans</a:t>
            </a:r>
            <a:r>
              <a:rPr lang="en-US" sz="2000" dirty="0"/>
              <a:t> = a * b;</a:t>
            </a:r>
          </a:p>
          <a:p>
            <a:r>
              <a:rPr lang="en-US" sz="2000" dirty="0"/>
              <a:t>      		return </a:t>
            </a:r>
            <a:r>
              <a:rPr lang="en-US" sz="2000" dirty="0" err="1"/>
              <a:t>ans</a:t>
            </a:r>
            <a:r>
              <a:rPr lang="en-US" sz="2000" dirty="0"/>
              <a:t>;</a:t>
            </a:r>
          </a:p>
          <a:p>
            <a:r>
              <a:rPr lang="en-US" sz="2000" dirty="0"/>
              <a:t>    	}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2847E-A13E-0081-0692-F7BAB77F900F}"/>
              </a:ext>
            </a:extLst>
          </p:cNvPr>
          <p:cNvSpPr txBox="1"/>
          <p:nvPr/>
        </p:nvSpPr>
        <p:spPr>
          <a:xfrm>
            <a:off x="6096000" y="2013228"/>
            <a:ext cx="5230137" cy="283154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	</a:t>
            </a:r>
          </a:p>
          <a:p>
            <a:r>
              <a:rPr lang="en-US" sz="2000" dirty="0"/>
              <a:t>	p1 = 10;</a:t>
            </a:r>
          </a:p>
          <a:p>
            <a:r>
              <a:rPr lang="en-US" sz="2000" dirty="0"/>
              <a:t>	p2 = 20;</a:t>
            </a:r>
          </a:p>
          <a:p>
            <a:r>
              <a:rPr lang="en-US" sz="2000" dirty="0"/>
              <a:t>	p3 = 30;</a:t>
            </a:r>
          </a:p>
          <a:p>
            <a:endParaRPr lang="en-US" sz="2000" dirty="0"/>
          </a:p>
          <a:p>
            <a:r>
              <a:rPr lang="en-US" sz="2000" dirty="0"/>
              <a:t>    	//(P1 + P2) * P3</a:t>
            </a:r>
          </a:p>
          <a:p>
            <a:r>
              <a:rPr lang="en-US" sz="2000" dirty="0"/>
              <a:t>    	</a:t>
            </a:r>
            <a:r>
              <a:rPr lang="en-US" sz="2000" dirty="0" err="1"/>
              <a:t>ans</a:t>
            </a:r>
            <a:r>
              <a:rPr lang="en-US" sz="2000" dirty="0"/>
              <a:t> = add(p1, p2, p3, </a:t>
            </a:r>
            <a:r>
              <a:rPr lang="en-US" sz="2000" dirty="0" err="1"/>
              <a:t>mul</a:t>
            </a:r>
            <a:r>
              <a:rPr lang="en-US" sz="2000" dirty="0"/>
              <a:t>);</a:t>
            </a:r>
          </a:p>
          <a:p>
            <a:r>
              <a:rPr lang="en-US" sz="2000" dirty="0"/>
              <a:t>    	alert(</a:t>
            </a:r>
            <a:r>
              <a:rPr lang="en-US" sz="2000" dirty="0" err="1"/>
              <a:t>ans</a:t>
            </a:r>
            <a:r>
              <a:rPr lang="en-US" sz="2000" dirty="0"/>
              <a:t>);</a:t>
            </a:r>
          </a:p>
          <a:p>
            <a:r>
              <a:rPr lang="en-US" sz="20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37741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Function as Arguments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80470" y="1033780"/>
            <a:ext cx="9768600" cy="5324535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&lt;script type="text/</a:t>
            </a:r>
            <a:r>
              <a:rPr lang="en-US" sz="2000" dirty="0" err="1"/>
              <a:t>javascript</a:t>
            </a:r>
            <a:r>
              <a:rPr lang="en-US" sz="2000" dirty="0"/>
              <a:t>"&gt;</a:t>
            </a:r>
          </a:p>
          <a:p>
            <a:r>
              <a:rPr lang="en-US" sz="2000" dirty="0"/>
              <a:t>	function </a:t>
            </a:r>
            <a:r>
              <a:rPr lang="en-US" sz="2000" dirty="0" err="1"/>
              <a:t>calculate_area</a:t>
            </a:r>
            <a:r>
              <a:rPr lang="en-US" sz="2000" dirty="0"/>
              <a:t>(l, b) { </a:t>
            </a:r>
          </a:p>
          <a:p>
            <a:r>
              <a:rPr lang="en-US" sz="2000" dirty="0"/>
              <a:t>    		return(l * b);	</a:t>
            </a:r>
          </a:p>
          <a:p>
            <a:r>
              <a:rPr lang="en-US" sz="2000" dirty="0"/>
              <a:t>	}</a:t>
            </a:r>
          </a:p>
          <a:p>
            <a:endParaRPr lang="en-US" sz="2000" dirty="0"/>
          </a:p>
          <a:p>
            <a:r>
              <a:rPr lang="en-US" sz="2000" dirty="0"/>
              <a:t>	function </a:t>
            </a:r>
            <a:r>
              <a:rPr lang="en-US" sz="2000" dirty="0" err="1"/>
              <a:t>calculate_perimeter</a:t>
            </a:r>
            <a:r>
              <a:rPr lang="en-US" sz="2000" dirty="0"/>
              <a:t>(l, b) { </a:t>
            </a:r>
          </a:p>
          <a:p>
            <a:r>
              <a:rPr lang="en-US" sz="2000" dirty="0"/>
              <a:t>    		return(2 * (l + b));		</a:t>
            </a:r>
          </a:p>
          <a:p>
            <a:r>
              <a:rPr lang="en-US" sz="2000" dirty="0"/>
              <a:t>	}</a:t>
            </a:r>
          </a:p>
          <a:p>
            <a:endParaRPr lang="en-US" sz="2000" dirty="0"/>
          </a:p>
          <a:p>
            <a:r>
              <a:rPr lang="en-US" sz="2000" dirty="0"/>
              <a:t>	function </a:t>
            </a:r>
            <a:r>
              <a:rPr lang="en-US" sz="2000" dirty="0" err="1"/>
              <a:t>rectangle_calculator</a:t>
            </a:r>
            <a:r>
              <a:rPr lang="en-US" sz="2000" dirty="0"/>
              <a:t>(l, b, property){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ans</a:t>
            </a:r>
            <a:r>
              <a:rPr lang="en-US" sz="2000" dirty="0"/>
              <a:t> = property(l, b);</a:t>
            </a:r>
          </a:p>
          <a:p>
            <a:r>
              <a:rPr lang="en-US" sz="2000" dirty="0"/>
              <a:t>		return </a:t>
            </a:r>
            <a:r>
              <a:rPr lang="en-US" sz="2000" dirty="0" err="1"/>
              <a:t>ans</a:t>
            </a:r>
            <a:r>
              <a:rPr lang="en-US" sz="2000" dirty="0"/>
              <a:t>;</a:t>
            </a:r>
          </a:p>
          <a:p>
            <a:r>
              <a:rPr lang="en-US" sz="2000" dirty="0"/>
              <a:t>	}</a:t>
            </a:r>
          </a:p>
          <a:p>
            <a:endParaRPr lang="en-US" sz="2000" dirty="0"/>
          </a:p>
          <a:p>
            <a:r>
              <a:rPr lang="en-US" sz="2000" dirty="0"/>
              <a:t>	console.log("Area: "+ </a:t>
            </a:r>
            <a:r>
              <a:rPr lang="en-US" sz="2000" dirty="0" err="1"/>
              <a:t>rectangle_calculator</a:t>
            </a:r>
            <a:r>
              <a:rPr lang="en-US" sz="2000" dirty="0"/>
              <a:t>(2, 5, </a:t>
            </a:r>
            <a:r>
              <a:rPr lang="en-US" sz="2000" dirty="0" err="1"/>
              <a:t>calculate_area</a:t>
            </a:r>
            <a:r>
              <a:rPr lang="en-US" sz="2000" dirty="0"/>
              <a:t>) + " </a:t>
            </a:r>
            <a:r>
              <a:rPr lang="en-US" sz="2000" dirty="0" err="1"/>
              <a:t>squareunit</a:t>
            </a:r>
            <a:r>
              <a:rPr lang="en-US" sz="2000" dirty="0"/>
              <a:t>");</a:t>
            </a:r>
          </a:p>
          <a:p>
            <a:r>
              <a:rPr lang="en-US" sz="2000" dirty="0"/>
              <a:t>	console.log("perimeter: "+ </a:t>
            </a:r>
            <a:r>
              <a:rPr lang="en-US" sz="2000" dirty="0" err="1"/>
              <a:t>rectangle_calculator</a:t>
            </a:r>
            <a:r>
              <a:rPr lang="en-US" sz="2000" dirty="0"/>
              <a:t>(2, 5, </a:t>
            </a:r>
            <a:r>
              <a:rPr lang="en-US" sz="2000" dirty="0" err="1"/>
              <a:t>calculate_perimeter</a:t>
            </a:r>
            <a:r>
              <a:rPr lang="en-US" sz="2000" dirty="0"/>
              <a:t>) + " unit");</a:t>
            </a:r>
          </a:p>
          <a:p>
            <a:r>
              <a:rPr lang="en-US" sz="20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07971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chirag.sakhrani@darshan.ac.in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8401191184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Chirag</a:t>
            </a:r>
            <a:r>
              <a:rPr lang="en-IN" dirty="0"/>
              <a:t> K </a:t>
            </a:r>
            <a:r>
              <a:rPr lang="en-IN" dirty="0" err="1"/>
              <a:t>Sakhrani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2675062" y="0"/>
            <a:ext cx="4646358" cy="734653"/>
          </a:xfrm>
        </p:spPr>
        <p:txBody>
          <a:bodyPr/>
          <a:lstStyle/>
          <a:p>
            <a:r>
              <a:rPr lang="en-US" dirty="0"/>
              <a:t>Client Side Scripting using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IN" dirty="0"/>
              <a:t> (CSJS) (</a:t>
            </a:r>
            <a:r>
              <a:rPr lang="en-US" dirty="0"/>
              <a:t>2304CS431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7305</TotalTime>
  <Words>2822</Words>
  <Application>Microsoft Office PowerPoint</Application>
  <PresentationFormat>Widescreen</PresentationFormat>
  <Paragraphs>657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Shruti</vt:lpstr>
      <vt:lpstr>Arial</vt:lpstr>
      <vt:lpstr>Wingdings 3</vt:lpstr>
      <vt:lpstr>Segoe UI Black</vt:lpstr>
      <vt:lpstr>Roboto Condensed</vt:lpstr>
      <vt:lpstr>Wingdings 2</vt:lpstr>
      <vt:lpstr>Roboto Condensed Light</vt:lpstr>
      <vt:lpstr>Calibri</vt:lpstr>
      <vt:lpstr>Wingdings</vt:lpstr>
      <vt:lpstr>Office Theme</vt:lpstr>
      <vt:lpstr>Unit-03  Array and Object</vt:lpstr>
      <vt:lpstr>PowerPoint Presentation</vt:lpstr>
      <vt:lpstr>Arrays</vt:lpstr>
      <vt:lpstr>Array Properties and Methods</vt:lpstr>
      <vt:lpstr>Array Properties and Methods</vt:lpstr>
      <vt:lpstr>Array Properties and Methods</vt:lpstr>
      <vt:lpstr>Array Properties and Methods</vt:lpstr>
      <vt:lpstr>Array Properties and Methods</vt:lpstr>
      <vt:lpstr>JavaScript Objects</vt:lpstr>
      <vt:lpstr>JavaScript’s inbuilt Objects</vt:lpstr>
      <vt:lpstr>Date Object in JavaScript</vt:lpstr>
      <vt:lpstr>Get Date Methods</vt:lpstr>
      <vt:lpstr>Set Date Methods</vt:lpstr>
      <vt:lpstr>Date Example</vt:lpstr>
      <vt:lpstr>Math Object in JavaScript</vt:lpstr>
      <vt:lpstr>Math Methods</vt:lpstr>
      <vt:lpstr>Math Methods</vt:lpstr>
      <vt:lpstr>User Defined Objects</vt:lpstr>
      <vt:lpstr>User Defined Objects</vt:lpstr>
      <vt:lpstr>Document Object Model (DOM)</vt:lpstr>
      <vt:lpstr>Document Object Model (DOM)</vt:lpstr>
      <vt:lpstr>Document Object Properties</vt:lpstr>
      <vt:lpstr>Document Object Methods</vt:lpstr>
      <vt:lpstr>getElementById()</vt:lpstr>
      <vt:lpstr>getElementsByName()</vt:lpstr>
      <vt:lpstr>getElementsByTagName()</vt:lpstr>
      <vt:lpstr>Forms using DOM</vt:lpstr>
      <vt:lpstr>DHTML – Combining HTML,CSS &amp; JS</vt:lpstr>
      <vt:lpstr>DHTML – Combining HTML,CSS &amp; JS</vt:lpstr>
      <vt:lpstr>DHTML (Example)</vt:lpstr>
      <vt:lpstr>HTML Element Properties</vt:lpstr>
      <vt:lpstr>Mouse Events</vt:lpstr>
      <vt:lpstr>Keyboard Events</vt:lpstr>
      <vt:lpstr>Frame/Object Events</vt:lpstr>
      <vt:lpstr>Form Events</vt:lpstr>
      <vt:lpstr>Callbacks in Javascript</vt:lpstr>
      <vt:lpstr>Function as Arguments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1009</cp:revision>
  <dcterms:created xsi:type="dcterms:W3CDTF">2020-05-01T05:09:15Z</dcterms:created>
  <dcterms:modified xsi:type="dcterms:W3CDTF">2025-11-26T03:20:33Z</dcterms:modified>
</cp:coreProperties>
</file>